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idea, not the technology: your business data already lives in Postgres, and AIDB lets you add AI search and assistants on top of it instead of building a separate AI platform. AIDB 7.8.0 was released on 12 October 2026. The deck covers the benefits, four everyday use cases, how to choose the AI model, and how access is controlled. The last slide ties each use case to the live demo.</a:t>
            </a:r>
          </a:p>
          <a:p/>
          <a:p>
            <a:r>
              <a:t>--- LIVING DECK (edb-bento-lite) ---</a:t>
            </a:r>
          </a:p>
          <a:p>
            <a:r>
              <a:t>This file is generated and reconciled. It is safe to edit by hand, and safe to</a:t>
            </a:r>
          </a:p>
          <a:p>
            <a:r>
              <a:t>regenerate: the two do not conflict.</a:t>
            </a:r>
          </a:p>
          <a:p/>
          <a:p>
            <a:r>
              <a:t>Humans: edit this .pptx freely, in PowerPoint or in Google Slides</a:t>
            </a:r>
          </a:p>
          <a:p>
            <a:r>
              <a:t>Office-compatibility mode (keep the .PPTX badge; never File &gt; Save as Google</a:t>
            </a:r>
          </a:p>
          <a:p>
            <a:r>
              <a:t>Slides -- conversion breaks shape identity). Your edits survive rebuilds.</a:t>
            </a:r>
          </a:p>
          <a:p/>
          <a:p>
            <a:r>
              <a:t>Claude (any session with the edb-bento-lite skill installed): this deck's</a:t>
            </a:r>
          </a:p>
          <a:p>
            <a:r>
              <a:t>source folder is: /mnt/user-data/outputs/2026-10-18 AIDB 7.8 Capabilities</a:t>
            </a:r>
          </a:p>
          <a:p>
            <a:r>
              <a:t>It contains the build script (build_aidb_deck.py), &lt;deck&gt;.pptx.manifest.json and &lt;deck&gt;.overrides.json.</a:t>
            </a:r>
          </a:p>
          <a:p>
            <a:r>
              <a:t>Before ANY rebuild: run the skill's scripts/reconcile.py against this pptx and</a:t>
            </a:r>
          </a:p>
          <a:p>
            <a:r>
              <a:t>the manifest to fold human edits into overrides.json (the build script applies</a:t>
            </a:r>
          </a:p>
          <a:p>
            <a:r>
              <a:t>overrides as its last step). Shapes carry semantic IDs (mbl:*) in their</a:t>
            </a:r>
          </a:p>
          <a:p>
            <a:r>
              <a:t>alt-text descriptions -- that is the identity system; do not strip alt text.</a:t>
            </a:r>
          </a:p>
          <a:p>
            <a:r>
              <a:t>If you only have this file and not the folder, the shape tags still let you</a:t>
            </a:r>
          </a:p>
          <a:p>
            <a:r>
              <a:t>rebuild a manifest from the file itself; ask the deck owner for the folder to</a:t>
            </a:r>
          </a:p>
          <a:p>
            <a:r>
              <a:t>recover the build script.</a:t>
            </a:r>
          </a:p>
          <a:p/>
          <a:p>
            <a:r>
              <a:t>Machine pointer (also in core document properties / comments):</a:t>
            </a:r>
          </a:p>
          <a:p>
            <a:r>
              <a:t>{"living_deck": 1, "skill": "edb-bento-lite", "folder": "/mnt/user-data/outputs/2026-10-18 AIDB 7.8 Capabilities", "build": "build_aidb_deck.py", "protocol": "reconcile-before-rebuild"}</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benefits to land with a business audience. Simpler: no second platform to run. Safer: the data stays under the database's own access rules, and keys for outside AI services are locked away. Current: pipelines keep the AI-ready copy fresh. One honest caveat: if a customer picks a hosted AI model, text is sent to that provider, which is why key and site controls matter. Slide 8 covers that choice.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product in one picture. Collect the material. Understand it: AIDB reads it, splits it into passages and indexes them by meaning. Find: people search in everyday words. Act: assistants use what was found. Underneath, these are pipelines, knowledge bases, agents and tools, but the audience does not need those words. The start list follows the documentation: install, register one model, optionally connect file storage.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classic first use case, often called retrieval-augmented generation or semantic search. The point is that people describe what they need and the system matches meaning, not exact words. The teams listed are examples of where this pattern fits, not customer references. For named EDB customer stories, check the official case studies.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use case answers the question that follows every search demo: who keeps the content up to date? AIDB can read from database tables, cloud object storage or a local folder. Pipelines run on demand, in batches, or automatically when the source changes. Scanned pages go through OCR, so they are searchable like any other 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Database tables have cryptic names and nobody outside the data team knows how they join. The semantic layer records what the tables mean and how they connect, so a plain-language question can be matched to the right data. Approved queries can be saved by name so results stay consistent. Relationships learned from past queries are held for review before they are accepted. The example question is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is an assistant that works in steps instead of answering in one shot. The renewals example is illustrative. The bottom strip is the reassurance for a cautious audience: the assistant only gets the tools you give it, its tool calls run under one database role chosen through a purpose, runs are bounded by step and time budgets, and every allow or deny decision is recorded. Tools can be built in, your own SQL queries, or imported from an external MCP server.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trade-off the customer controls. Local models keep text inside the database and need no key. Hosted models are often more capable but send text to a provider, so they need a credential and an outbound connection. Because the application calls the same functions either way, the choice can be revisited. The best-for lines are general guidance, not a benchmark.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security and compliance audiences. The 7.8.0 headline is named credentials: a normal AIDB user can now create a model that uses an API key without a superuser, and the key can be shared with chosen roles and limited to approved sites. Governance, which confines an assistant's tool calls to one role and records decisions, is separate and already available. Teams upgrading from 7.7 should review the shared credentials the upgrade creates from existing provider secrets.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tying each use case to something the audience just watched. The Showcase page reads the customer's own server, hides every secret value and is read-only except for the optional agent question, which asks for confirmation. Suggest starting with one use case, one model and a small set of documents.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EDB Title (manual)">
    <p:bg>
      <p:bgPr>
        <a:solidFill>
          <a:srgbClr val="0D1E2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65760" y="2130425"/>
            <a:ext cx="11430000" cy="1470025"/>
          </a:xfrm>
        </p:spPr>
        <p:txBody>
          <a:bodyPr/>
          <a:lstStyle/>
          <a:p>
            <a:pPr algn="l">
              <a:defRPr>
                <a:solidFill>
                  <a:srgbClr val="FFFFFF"/>
                </a:solidFill>
              </a:defRPr>
            </a:pPr>
            <a:r>
              <a:rPr lang="en-US" smtClean="0"/>
              <a:t>Click to edit Master title style</a:t>
            </a:r>
            <a:endParaRPr lang="en-US"/>
          </a:p>
        </p:txBody>
      </p:sp>
      <p:sp>
        <p:nvSpPr>
          <p:cNvPr id="3" name="Subtitle 2"/>
          <p:cNvSpPr>
            <a:spLocks noGrp="1"/>
          </p:cNvSpPr>
          <p:nvPr>
            <p:ph type="subTitle" idx="1"/>
          </p:nvPr>
        </p:nvSpPr>
        <p:spPr>
          <a:xfrm>
            <a:off x="365760" y="3886200"/>
            <a:ext cx="114300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lgn="l">
              <a:defRPr>
                <a:solidFill>
                  <a:srgbClr val="FFFFFF"/>
                </a:solidFill>
              </a:defRPr>
            </a:pPr>
            <a:r>
              <a:rPr lang="en-US" smtClean="0"/>
              <a:t>Click to edit Master subtitle style</a:t>
            </a:r>
            <a:endParaRPr lang="en-US"/>
          </a:p>
        </p:txBody>
      </p:sp>
      <p:sp>
        <p:nvSpPr>
          <p:cNvPr id="4" name="Date Placeholder 3"/>
          <p:cNvSpPr>
            <a:spLocks noGrp="1"/>
          </p:cNvSpPr>
          <p:nvPr>
            <p:ph type="dt" sz="half" idx="10"/>
          </p:nvPr>
        </p:nvSpPr>
        <p:spPr>
          <a:xfrm>
            <a:off x="365760" y="0"/>
            <a:ext cx="11430000" cy="0"/>
          </a:xfrm>
        </p:spPr>
        <p:txBody>
          <a:bodyPr/>
          <a:lstStyle/>
          <a:p>
            <a:pPr algn="l">
              <a:defRPr>
                <a:solidFill>
                  <a:srgbClr val="FFFFFF"/>
                </a:solidFill>
              </a:defRPr>
            </a:pPr>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365760" y="0"/>
            <a:ext cx="11430000" cy="0"/>
          </a:xfrm>
        </p:spPr>
        <p:txBody>
          <a:bodyPr/>
          <a:lstStyle/>
          <a:p>
            <a:pPr algn="l">
              <a:defRPr>
                <a:solidFill>
                  <a:srgbClr val="FFFFFF"/>
                </a:solidFill>
              </a:defRPr>
            </a:pPr>
            <a:endParaRPr lang="en-US"/>
          </a:p>
        </p:txBody>
      </p:sp>
      <p:sp>
        <p:nvSpPr>
          <p:cNvPr id="6" name="Slide Number Placeholder 5"/>
          <p:cNvSpPr>
            <a:spLocks noGrp="1"/>
          </p:cNvSpPr>
          <p:nvPr>
            <p:ph type="sldNum" sz="quarter" idx="12"/>
          </p:nvPr>
        </p:nvSpPr>
        <p:spPr>
          <a:xfrm>
            <a:off x="365760" y="0"/>
            <a:ext cx="11430000" cy="0"/>
          </a:xfrm>
        </p:spPr>
        <p:txBody>
          <a:bodyPr/>
          <a:lstStyle/>
          <a:p>
            <a:pPr algn="l">
              <a:defRPr>
                <a:solidFill>
                  <a:srgbClr val="FFFFFF"/>
                </a:solidFill>
              </a:defRPr>
            </a:pPr>
            <a:fld id="{C1FF6DA9-008F-8B48-92A6-B652298478BF}" type="slidenum">
              <a:rPr lang="en-US" smtClean="0"/>
              <a:t>‹#›</a:t>
            </a:fld>
            <a:endParaRPr lang="en-US"/>
          </a:p>
        </p:txBody>
      </p:sp>
      <p:pic>
        <p:nvPicPr>
          <p:cNvPr id="4" name="Picture 3" descr="edb_postgres_ai_darkmode.png"/>
          <p:cNvPicPr>
            <a:picLocks noChangeAspect="1"/>
          </p:cNvPicPr>
          <p:nvPr/>
        </p:nvPicPr>
        <p:blipFill>
          <a:blip r:embed="rId2"/>
          <a:stretch>
            <a:fillRect/>
          </a:stretch>
        </p:blipFill>
        <p:spPr>
          <a:xfrm>
            <a:off x="256032" y="6419088"/>
            <a:ext cx="877824" cy="201168"/>
          </a:xfrm>
          <a:prstGeom prst="rect">
            <a:avLst/>
          </a:prstGeom>
        </p:spPr>
      </p:pic>
      <p:sp>
        <p:nvSpPr>
          <p:cNvPr id="5" name="TextBox 4"/>
          <p:cNvSpPr txBox="1"/>
          <p:nvPr/>
        </p:nvSpPr>
        <p:spPr>
          <a:xfrm>
            <a:off x="8259775" y="6437376"/>
            <a:ext cx="3657600" cy="182880"/>
          </a:xfrm>
          <a:prstGeom prst="rect">
            <a:avLst/>
          </a:prstGeom>
          <a:noFill/>
        </p:spPr>
        <p:txBody>
          <a:bodyPr wrap="square">
            <a:noAutofit/>
          </a:bodyPr>
          <a:lstStyle/>
          <a:p>
            <a:pPr algn="r"/>
            <a:r>
              <a:rPr sz="750">
                <a:solidFill>
                  <a:srgbClr val="A8C2CA"/>
                </a:solidFill>
                <a:latin typeface="Roboto"/>
              </a:rPr>
              <a:t>©EDB 2026 — ALL RIGHTS RESERVED.</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EDB Content (manual)">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384048"/>
            <a:ext cx="11430000" cy="685800"/>
          </a:xfrm>
        </p:spPr>
        <p:txBody>
          <a:bodyPr/>
          <a:lstStyle/>
          <a:p>
            <a:r>
              <a:rPr lang="en-US" smtClean="0"/>
              <a:t>Click to edit Master title style</a:t>
            </a:r>
            <a:endParaRPr lang="en-US"/>
          </a:p>
        </p:txBody>
      </p:sp>
      <p:sp>
        <p:nvSpPr>
          <p:cNvPr id="3" name="Content Placeholder 2"/>
          <p:cNvSpPr>
            <a:spLocks noGrp="1"/>
          </p:cNvSpPr>
          <p:nvPr>
            <p:ph idx="1"/>
          </p:nvPr>
        </p:nvSpPr>
        <p:spPr>
          <a:xfrm>
            <a:off x="365760" y="1417320"/>
            <a:ext cx="11457432" cy="46634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365760" y="1417320"/>
            <a:ext cx="11457432" cy="466344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365760" y="1417320"/>
            <a:ext cx="11457432" cy="4663440"/>
          </a:xfrm>
        </p:spPr>
        <p:txBody>
          <a:bodyPr/>
          <a:lstStyle/>
          <a:p>
            <a:endParaRPr lang="en-US"/>
          </a:p>
        </p:txBody>
      </p:sp>
      <p:sp>
        <p:nvSpPr>
          <p:cNvPr id="6" name="Slide Number Placeholder 5"/>
          <p:cNvSpPr>
            <a:spLocks noGrp="1"/>
          </p:cNvSpPr>
          <p:nvPr>
            <p:ph type="sldNum" sz="quarter" idx="12"/>
          </p:nvPr>
        </p:nvSpPr>
        <p:spPr>
          <a:xfrm>
            <a:off x="365760" y="1417320"/>
            <a:ext cx="11457432" cy="4663440"/>
          </a:xfrm>
        </p:spPr>
        <p:txBody>
          <a:bodyPr/>
          <a:lstStyle/>
          <a:p>
            <a:fld id="{C1FF6DA9-008F-8B48-92A6-B652298478BF}" type="slidenum">
              <a:rPr lang="en-US" smtClean="0"/>
              <a:t>‹#›</a:t>
            </a:fld>
            <a:endParaRPr lang="en-US"/>
          </a:p>
        </p:txBody>
      </p:sp>
      <p:pic>
        <p:nvPicPr>
          <p:cNvPr id="4" name="Picture 3" descr="edb_postgres_ai_lightmode.png"/>
          <p:cNvPicPr>
            <a:picLocks noChangeAspect="1"/>
          </p:cNvPicPr>
          <p:nvPr/>
        </p:nvPicPr>
        <p:blipFill>
          <a:blip r:embed="rId2"/>
          <a:stretch>
            <a:fillRect/>
          </a:stretch>
        </p:blipFill>
        <p:spPr>
          <a:xfrm>
            <a:off x="256032" y="6419088"/>
            <a:ext cx="877824" cy="201168"/>
          </a:xfrm>
          <a:prstGeom prst="rect">
            <a:avLst/>
          </a:prstGeom>
        </p:spPr>
      </p:pic>
      <p:sp>
        <p:nvSpPr>
          <p:cNvPr id="5" name="TextBox 4"/>
          <p:cNvSpPr txBox="1"/>
          <p:nvPr/>
        </p:nvSpPr>
        <p:spPr>
          <a:xfrm>
            <a:off x="8259775" y="6437376"/>
            <a:ext cx="3657600" cy="182880"/>
          </a:xfrm>
          <a:prstGeom prst="rect">
            <a:avLst/>
          </a:prstGeom>
          <a:noFill/>
        </p:spPr>
        <p:txBody>
          <a:bodyPr wrap="square">
            <a:noAutofit/>
          </a:bodyPr>
          <a:lstStyle/>
          <a:p>
            <a:pPr algn="r"/>
            <a:r>
              <a:rPr sz="750">
                <a:solidFill>
                  <a:srgbClr val="567F8D"/>
                </a:solidFill>
                <a:latin typeface="Roboto"/>
              </a:rPr>
              <a:t>©EDB 2026 — ALL RIGHTS RESERVED.</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DB Divider (manual)">
    <p:bg>
      <p:bgPr>
        <a:solidFill>
          <a:srgbClr val="0D1E2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406900"/>
            <a:ext cx="11430000" cy="1362075"/>
          </a:xfrm>
        </p:spPr>
        <p:txBody>
          <a:bodyPr anchor="t"/>
          <a:lstStyle>
            <a:lvl1pPr algn="l">
              <a:defRPr sz="4000" b="1" cap="all"/>
            </a:lvl1pPr>
          </a:lstStyle>
          <a:p>
            <a:pPr algn="l">
              <a:defRPr>
                <a:solidFill>
                  <a:srgbClr val="FFFFFF"/>
                </a:solidFill>
              </a:defRPr>
            </a:pPr>
            <a:r>
              <a:rPr lang="en-US" smtClean="0"/>
              <a:t>Click to edit Master title style</a:t>
            </a:r>
            <a:endParaRPr lang="en-US"/>
          </a:p>
        </p:txBody>
      </p:sp>
      <p:sp>
        <p:nvSpPr>
          <p:cNvPr id="3" name="Text Placeholder 2"/>
          <p:cNvSpPr>
            <a:spLocks noGrp="1"/>
          </p:cNvSpPr>
          <p:nvPr>
            <p:ph type="body" idx="1"/>
          </p:nvPr>
        </p:nvSpPr>
        <p:spPr>
          <a:xfrm>
            <a:off x="365760" y="2906713"/>
            <a:ext cx="114300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lgn="l">
              <a:defRPr>
                <a:solidFill>
                  <a:srgbClr val="FFFFFF"/>
                </a:solidFill>
              </a:defRPr>
            </a:pPr>
            <a:r>
              <a:rPr lang="en-US" smtClean="0"/>
              <a:t>Click to edit Master text styles</a:t>
            </a:r>
          </a:p>
        </p:txBody>
      </p:sp>
      <p:sp>
        <p:nvSpPr>
          <p:cNvPr id="4" name="Date Placeholder 3"/>
          <p:cNvSpPr>
            <a:spLocks noGrp="1"/>
          </p:cNvSpPr>
          <p:nvPr>
            <p:ph type="dt" sz="half" idx="10"/>
          </p:nvPr>
        </p:nvSpPr>
        <p:spPr>
          <a:xfrm>
            <a:off x="365760" y="0"/>
            <a:ext cx="11430000" cy="0"/>
          </a:xfrm>
        </p:spPr>
        <p:txBody>
          <a:bodyPr/>
          <a:lstStyle/>
          <a:p>
            <a:pPr algn="l">
              <a:defRPr>
                <a:solidFill>
                  <a:srgbClr val="FFFFFF"/>
                </a:solidFill>
              </a:defRPr>
            </a:pPr>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365760" y="0"/>
            <a:ext cx="11430000" cy="0"/>
          </a:xfrm>
        </p:spPr>
        <p:txBody>
          <a:bodyPr/>
          <a:lstStyle/>
          <a:p>
            <a:pPr algn="l">
              <a:defRPr>
                <a:solidFill>
                  <a:srgbClr val="FFFFFF"/>
                </a:solidFill>
              </a:defRPr>
            </a:pPr>
            <a:endParaRPr lang="en-US"/>
          </a:p>
        </p:txBody>
      </p:sp>
      <p:sp>
        <p:nvSpPr>
          <p:cNvPr id="6" name="Slide Number Placeholder 5"/>
          <p:cNvSpPr>
            <a:spLocks noGrp="1"/>
          </p:cNvSpPr>
          <p:nvPr>
            <p:ph type="sldNum" sz="quarter" idx="12"/>
          </p:nvPr>
        </p:nvSpPr>
        <p:spPr>
          <a:xfrm>
            <a:off x="365760" y="0"/>
            <a:ext cx="11430000" cy="0"/>
          </a:xfrm>
        </p:spPr>
        <p:txBody>
          <a:bodyPr/>
          <a:lstStyle/>
          <a:p>
            <a:pPr algn="l">
              <a:defRPr>
                <a:solidFill>
                  <a:srgbClr val="FFFFFF"/>
                </a:solidFill>
              </a:defRPr>
            </a:pPr>
            <a:fld id="{C1FF6DA9-008F-8B48-92A6-B652298478BF}" type="slidenum">
              <a:rPr lang="en-US" smtClean="0"/>
              <a:t>‹#›</a:t>
            </a:fld>
            <a:endParaRPr lang="en-US"/>
          </a:p>
        </p:txBody>
      </p:sp>
      <p:pic>
        <p:nvPicPr>
          <p:cNvPr id="4" name="Picture 3" descr="edb_postgres_ai_darkmode.png"/>
          <p:cNvPicPr>
            <a:picLocks noChangeAspect="1"/>
          </p:cNvPicPr>
          <p:nvPr/>
        </p:nvPicPr>
        <p:blipFill>
          <a:blip r:embed="rId2"/>
          <a:stretch>
            <a:fillRect/>
          </a:stretch>
        </p:blipFill>
        <p:spPr>
          <a:xfrm>
            <a:off x="256032" y="6419088"/>
            <a:ext cx="877824" cy="201168"/>
          </a:xfrm>
          <a:prstGeom prst="rect">
            <a:avLst/>
          </a:prstGeom>
        </p:spPr>
      </p:pic>
      <p:sp>
        <p:nvSpPr>
          <p:cNvPr id="5" name="TextBox 4"/>
          <p:cNvSpPr txBox="1"/>
          <p:nvPr/>
        </p:nvSpPr>
        <p:spPr>
          <a:xfrm>
            <a:off x="8259775" y="6437376"/>
            <a:ext cx="3657600" cy="182880"/>
          </a:xfrm>
          <a:prstGeom prst="rect">
            <a:avLst/>
          </a:prstGeom>
          <a:noFill/>
        </p:spPr>
        <p:txBody>
          <a:bodyPr wrap="square">
            <a:noAutofit/>
          </a:bodyPr>
          <a:lstStyle/>
          <a:p>
            <a:pPr algn="r"/>
            <a:r>
              <a:rPr sz="750">
                <a:solidFill>
                  <a:srgbClr val="A8C2CA"/>
                </a:solidFill>
                <a:latin typeface="Roboto"/>
              </a:rPr>
              <a:t>©EDB 2026 — ALL RIGHTS RESERVED.</a:t>
            </a:r>
          </a:p>
        </p:txBody>
      </p:sp>
    </p:spTree>
    <p:extLst>
      <p:ext uri="{BB962C8B-B14F-4D97-AF65-F5344CB8AC3E}">
        <p14:creationId xmlns:p14="http://schemas.microsoft.com/office/powerpoint/2010/main" val="960648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DB Dark">
    <p:bg>
      <p:bgPr>
        <a:solidFill>
          <a:srgbClr val="0D1E25"/>
        </a:solidFill>
        <a:effectLst/>
      </p:bgPr>
    </p:bg>
    <p:spTree>
      <p:nvGrpSpPr>
        <p:cNvPr id="1" name=""/>
        <p:cNvGrpSpPr/>
        <p:nvPr/>
      </p:nvGrpSpPr>
      <p:grpSpPr>
        <a:xfrm>
          <a:off x="0" y="0"/>
          <a:ext cx="0" cy="0"/>
          <a:chOff x="0" y="0"/>
          <a:chExt cx="0" cy="0"/>
        </a:xfrm>
      </p:grpSpPr>
      <p:pic>
        <p:nvPicPr>
          <p:cNvPr id="2" name="Picture 1" descr="edb_postgres_ai_darkmode.png"/>
          <p:cNvPicPr>
            <a:picLocks noChangeAspect="1"/>
          </p:cNvPicPr>
          <p:nvPr/>
        </p:nvPicPr>
        <p:blipFill>
          <a:blip r:embed="rId2"/>
          <a:stretch>
            <a:fillRect/>
          </a:stretch>
        </p:blipFill>
        <p:spPr>
          <a:xfrm>
            <a:off x="256032" y="6419088"/>
            <a:ext cx="877824" cy="201168"/>
          </a:xfrm>
          <a:prstGeom prst="rect">
            <a:avLst/>
          </a:prstGeom>
        </p:spPr>
      </p:pic>
      <p:sp>
        <p:nvSpPr>
          <p:cNvPr id="3" name="TextBox 2"/>
          <p:cNvSpPr txBox="1"/>
          <p:nvPr/>
        </p:nvSpPr>
        <p:spPr>
          <a:xfrm>
            <a:off x="8259775" y="6437376"/>
            <a:ext cx="3657600" cy="182880"/>
          </a:xfrm>
          <a:prstGeom prst="rect">
            <a:avLst/>
          </a:prstGeom>
          <a:noFill/>
        </p:spPr>
        <p:txBody>
          <a:bodyPr wrap="square">
            <a:noAutofit/>
          </a:bodyPr>
          <a:lstStyle/>
          <a:p>
            <a:pPr algn="r"/>
            <a:r>
              <a:rPr sz="750">
                <a:solidFill>
                  <a:srgbClr val="A8C2CA"/>
                </a:solidFill>
                <a:latin typeface="Roboto"/>
              </a:rPr>
              <a:t>©EDB 2026 — ALL RIGHTS RESERVED.</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DB Content">
    <p:bg>
      <p:bgPr>
        <a:solidFill>
          <a:srgbClr val="FFFFFF"/>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2" name="Picture 1" descr="edb_postgres_ai_lightmode.png"/>
          <p:cNvPicPr>
            <a:picLocks noChangeAspect="1"/>
          </p:cNvPicPr>
          <p:nvPr/>
        </p:nvPicPr>
        <p:blipFill>
          <a:blip r:embed="rId2"/>
          <a:stretch>
            <a:fillRect/>
          </a:stretch>
        </p:blipFill>
        <p:spPr>
          <a:xfrm>
            <a:off x="256032" y="6419088"/>
            <a:ext cx="877824" cy="201168"/>
          </a:xfrm>
          <a:prstGeom prst="rect">
            <a:avLst/>
          </a:prstGeom>
        </p:spPr>
      </p:pic>
      <p:sp>
        <p:nvSpPr>
          <p:cNvPr id="3" name="TextBox 2"/>
          <p:cNvSpPr txBox="1"/>
          <p:nvPr/>
        </p:nvSpPr>
        <p:spPr>
          <a:xfrm>
            <a:off x="8259775" y="6437376"/>
            <a:ext cx="3657600" cy="182880"/>
          </a:xfrm>
          <a:prstGeom prst="rect">
            <a:avLst/>
          </a:prstGeom>
          <a:noFill/>
        </p:spPr>
        <p:txBody>
          <a:bodyPr wrap="square">
            <a:noAutofit/>
          </a:bodyPr>
          <a:lstStyle/>
          <a:p>
            <a:pPr algn="r"/>
            <a:r>
              <a:rPr sz="750">
                <a:solidFill>
                  <a:srgbClr val="567F8D"/>
                </a:solidFill>
                <a:latin typeface="Roboto"/>
              </a:rPr>
              <a:t>©EDB 2026 — ALL RIGHTS RESERVED.</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4" r:id="rId6"/>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E25"/>
        </a:solidFill>
        <a:effectLst/>
      </p:bgPr>
    </p:bg>
    <p:spTree>
      <p:nvGrpSpPr>
        <p:cNvPr id="1" name=""/>
        <p:cNvGrpSpPr/>
        <p:nvPr/>
      </p:nvGrpSpPr>
      <p:grpSpPr/>
      <p:sp>
        <p:nvSpPr>
          <p:cNvPr id="2" name="mbl:gbar:1" descr="{&quot;mbl&quot;: 1, &quot;c&quot;: &quot;gbar&quot;, &quot;i&quot;: 1}"/>
          <p:cNvSpPr/>
          <p:nvPr/>
        </p:nvSpPr>
        <p:spPr>
          <a:xfrm>
            <a:off x="219456" y="1481328"/>
            <a:ext cx="82296" cy="960120"/>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1481328"/>
            <a:ext cx="11460175" cy="960120"/>
          </a:xfrm>
          <a:prstGeom prst="rect">
            <a:avLst/>
          </a:prstGeom>
          <a:noFill/>
        </p:spPr>
        <p:txBody>
          <a:bodyPr wrap="square" anchor="ctr" lIns="0" rIns="0" tIns="0" bIns="0">
            <a:noAutofit/>
          </a:bodyPr>
          <a:lstStyle/>
          <a:p>
            <a:pPr algn="l">
              <a:lnSpc>
                <a:spcPct val="100000"/>
              </a:lnSpc>
            </a:pPr>
            <a:r>
              <a:rPr sz="3200" b="1" i="0">
                <a:solidFill>
                  <a:srgbClr val="FFFFFF"/>
                </a:solidFill>
                <a:latin typeface="Roboto Condensed"/>
              </a:rPr>
              <a:t>AIDB 7.8: PUT AI TO WORK ON THE DATA YOU ALREADY HAVE</a:t>
            </a:r>
          </a:p>
        </p:txBody>
      </p:sp>
      <p:sp>
        <p:nvSpPr>
          <p:cNvPr id="4" name="mbl:statement:1" descr="{&quot;mbl&quot;: 1, &quot;c&quot;: &quot;statement&quot;, &quot;i&quot;: 1}"/>
          <p:cNvSpPr txBox="1"/>
          <p:nvPr/>
        </p:nvSpPr>
        <p:spPr>
          <a:xfrm>
            <a:off x="365760" y="2697480"/>
            <a:ext cx="10088575" cy="1645920"/>
          </a:xfrm>
          <a:prstGeom prst="rect">
            <a:avLst/>
          </a:prstGeom>
          <a:noFill/>
        </p:spPr>
        <p:txBody>
          <a:bodyPr wrap="square" anchor="t" lIns="0" rIns="0" tIns="0" bIns="0">
            <a:noAutofit/>
          </a:bodyPr>
          <a:lstStyle/>
          <a:p>
            <a:pPr algn="l">
              <a:lnSpc>
                <a:spcPct val="110000"/>
              </a:lnSpc>
            </a:pPr>
            <a:r>
              <a:rPr sz="2200" b="0" i="0">
                <a:solidFill>
                  <a:srgbClr val="A8C2CA"/>
                </a:solidFill>
                <a:latin typeface="Roboto Condensed"/>
              </a:rPr>
              <a:t>Search your documents, question your database and run assistants, all inside Postgres.</a:t>
            </a:r>
          </a:p>
        </p:txBody>
      </p:sp>
      <p:sp>
        <p:nvSpPr>
          <p:cNvPr id="5" name="mbl:meta:1" descr="{&quot;mbl&quot;: 1, &quot;c&quot;: &quot;meta&quot;, &quot;i&quot;: 1}"/>
          <p:cNvSpPr txBox="1"/>
          <p:nvPr/>
        </p:nvSpPr>
        <p:spPr>
          <a:xfrm>
            <a:off x="365760" y="5440680"/>
            <a:ext cx="11460175" cy="219456"/>
          </a:xfrm>
          <a:prstGeom prst="rect">
            <a:avLst/>
          </a:prstGeom>
          <a:noFill/>
        </p:spPr>
        <p:txBody>
          <a:bodyPr wrap="square" anchor="t" lIns="0" rIns="0" tIns="0" bIns="0">
            <a:noAutofit/>
          </a:bodyPr>
          <a:lstStyle/>
          <a:p>
            <a:pPr algn="l">
              <a:lnSpc>
                <a:spcPct val="100000"/>
              </a:lnSpc>
            </a:pPr>
            <a:r>
              <a:rPr sz="1200" b="0" i="0">
                <a:solidFill>
                  <a:srgbClr val="A8C2CA"/>
                </a:solidFill>
                <a:latin typeface="Roboto"/>
              </a:rPr>
              <a:t>EDB Postgres AI  ·  AIDB 7.8.0  ·  Benefits and use cases  ·  October 2026</a:t>
            </a:r>
          </a:p>
        </p:txBody>
      </p:sp>
      <p:sp>
        <p:nvSpPr>
          <p:cNvPr id="6" name="mbl:byline:1" descr="{&quot;mbl&quot;: 1, &quot;c&quot;: &quot;byline&quot;, &quot;i&quot;: 1}"/>
          <p:cNvSpPr txBox="1"/>
          <p:nvPr/>
        </p:nvSpPr>
        <p:spPr>
          <a:xfrm>
            <a:off x="365760" y="5687568"/>
            <a:ext cx="11460175" cy="219456"/>
          </a:xfrm>
          <a:prstGeom prst="rect">
            <a:avLst/>
          </a:prstGeom>
          <a:noFill/>
        </p:spPr>
        <p:txBody>
          <a:bodyPr wrap="square" anchor="t" lIns="0" rIns="0" tIns="0" bIns="0">
            <a:noAutofit/>
          </a:bodyPr>
          <a:lstStyle/>
          <a:p>
            <a:pPr algn="l">
              <a:lnSpc>
                <a:spcPct val="100000"/>
              </a:lnSpc>
            </a:pPr>
            <a:r>
              <a:rPr sz="1050" b="0" i="0">
                <a:solidFill>
                  <a:srgbClr val="567F8D"/>
                </a:solidFill>
                <a:latin typeface="Roboto"/>
              </a:rPr>
              <a:t>Live demo: the AIDB Introspector Showcase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AIDB BRINGS AI TO THE DATA, NOT THE DATA TO AI</a:t>
            </a:r>
          </a:p>
        </p:txBody>
      </p:sp>
      <p:sp>
        <p:nvSpPr>
          <p:cNvPr id="4" name="mbl:tab:1" descr="{&quot;mbl&quot;: 1, &quot;c&quot;: &quot;tab&quot;, &quot;i&quot;: 1}"/>
          <p:cNvSpPr/>
          <p:nvPr/>
        </p:nvSpPr>
        <p:spPr>
          <a:xfrm>
            <a:off x="365760" y="1417320"/>
            <a:ext cx="3637178" cy="274320"/>
          </a:xfrm>
          <a:prstGeom prst="roundRect">
            <a:avLst>
              <a:gd name="adj" fmla="val 5424"/>
            </a:avLst>
          </a:prstGeom>
          <a:solidFill>
            <a:srgbClr val="2849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a:noAutofit/>
          </a:bodyPr>
          <a:lstStyle/>
          <a:p>
            <a:pPr algn="ctr"/>
            <a:r>
              <a:rPr sz="1200" b="1">
                <a:solidFill>
                  <a:srgbClr val="FFFFFF"/>
                </a:solidFill>
                <a:latin typeface="Roboto Condensed"/>
              </a:rPr>
              <a:t>SIMPLER</a:t>
            </a:r>
          </a:p>
        </p:txBody>
      </p:sp>
      <p:sp>
        <p:nvSpPr>
          <p:cNvPr id="5" name="mbl:txt:1" descr="{&quot;mbl&quot;: 1, &quot;c&quot;: &quot;txt&quot;, &quot;i&quot;: 1}"/>
          <p:cNvSpPr txBox="1"/>
          <p:nvPr/>
        </p:nvSpPr>
        <p:spPr>
          <a:xfrm>
            <a:off x="365760" y="1984248"/>
            <a:ext cx="3637178" cy="1280160"/>
          </a:xfrm>
          <a:prstGeom prst="rect">
            <a:avLst/>
          </a:prstGeom>
          <a:noFill/>
        </p:spPr>
        <p:txBody>
          <a:bodyPr wrap="square" anchor="t" lIns="0" rIns="0" tIns="0" bIns="0">
            <a:noAutofit/>
          </a:bodyPr>
          <a:lstStyle/>
          <a:p>
            <a:pPr algn="l">
              <a:lnSpc>
                <a:spcPct val="100000"/>
              </a:lnSpc>
            </a:pPr>
            <a:r>
              <a:rPr sz="2600" b="1" i="0">
                <a:solidFill>
                  <a:srgbClr val="28495A"/>
                </a:solidFill>
                <a:latin typeface="Roboto Condensed"/>
              </a:rPr>
              <a:t>One platform, not a new stack.</a:t>
            </a:r>
          </a:p>
        </p:txBody>
      </p:sp>
      <p:sp>
        <p:nvSpPr>
          <p:cNvPr id="6" name="mbl:txt:2" descr="{&quot;mbl&quot;: 1, &quot;c&quot;: &quot;txt&quot;, &quot;i&quot;: 2}"/>
          <p:cNvSpPr txBox="1"/>
          <p:nvPr/>
        </p:nvSpPr>
        <p:spPr>
          <a:xfrm>
            <a:off x="365760" y="3383280"/>
            <a:ext cx="3637178" cy="2194560"/>
          </a:xfrm>
          <a:prstGeom prst="rect">
            <a:avLst/>
          </a:prstGeom>
          <a:noFill/>
        </p:spPr>
        <p:txBody>
          <a:bodyPr wrap="square" anchor="t" lIns="0" rIns="0" tIns="0" bIns="0">
            <a:noAutofit/>
          </a:bodyPr>
          <a:lstStyle/>
          <a:p>
            <a:pPr algn="l">
              <a:lnSpc>
                <a:spcPct val="115000"/>
              </a:lnSpc>
            </a:pPr>
            <a:r>
              <a:rPr sz="1600" b="0" i="0">
                <a:solidFill>
                  <a:srgbClr val="567F8D"/>
                </a:solidFill>
                <a:latin typeface="Roboto"/>
              </a:rPr>
              <a:t>AI features are added to the database you already run, so there is no separate system to build, secure and keep in sync.</a:t>
            </a:r>
          </a:p>
        </p:txBody>
      </p:sp>
      <p:sp>
        <p:nvSpPr>
          <p:cNvPr id="7" name="mbl:tab:2" descr="{&quot;mbl&quot;: 1, &quot;c&quot;: &quot;tab&quot;, &quot;i&quot;: 2}"/>
          <p:cNvSpPr/>
          <p:nvPr/>
        </p:nvSpPr>
        <p:spPr>
          <a:xfrm>
            <a:off x="4277258" y="1417320"/>
            <a:ext cx="3637178" cy="274320"/>
          </a:xfrm>
          <a:prstGeom prst="roundRect">
            <a:avLst>
              <a:gd name="adj" fmla="val 5424"/>
            </a:avLst>
          </a:prstGeom>
          <a:solidFill>
            <a:srgbClr val="2849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a:noAutofit/>
          </a:bodyPr>
          <a:lstStyle/>
          <a:p>
            <a:pPr algn="ctr"/>
            <a:r>
              <a:rPr sz="1200" b="1">
                <a:solidFill>
                  <a:srgbClr val="FFFFFF"/>
                </a:solidFill>
                <a:latin typeface="Roboto Condensed"/>
              </a:rPr>
              <a:t>SAFER</a:t>
            </a:r>
          </a:p>
        </p:txBody>
      </p:sp>
      <p:sp>
        <p:nvSpPr>
          <p:cNvPr id="8" name="mbl:txt:3" descr="{&quot;mbl&quot;: 1, &quot;c&quot;: &quot;txt&quot;, &quot;i&quot;: 3}"/>
          <p:cNvSpPr txBox="1"/>
          <p:nvPr/>
        </p:nvSpPr>
        <p:spPr>
          <a:xfrm>
            <a:off x="4277258" y="1984248"/>
            <a:ext cx="3637178" cy="1280160"/>
          </a:xfrm>
          <a:prstGeom prst="rect">
            <a:avLst/>
          </a:prstGeom>
          <a:noFill/>
        </p:spPr>
        <p:txBody>
          <a:bodyPr wrap="square" anchor="t" lIns="0" rIns="0" tIns="0" bIns="0">
            <a:noAutofit/>
          </a:bodyPr>
          <a:lstStyle/>
          <a:p>
            <a:pPr algn="l">
              <a:lnSpc>
                <a:spcPct val="100000"/>
              </a:lnSpc>
            </a:pPr>
            <a:r>
              <a:rPr sz="2600" b="1" i="0">
                <a:solidFill>
                  <a:srgbClr val="28495A"/>
                </a:solidFill>
                <a:latin typeface="Roboto Condensed"/>
              </a:rPr>
              <a:t>Your existing controls still apply.</a:t>
            </a:r>
          </a:p>
        </p:txBody>
      </p:sp>
      <p:sp>
        <p:nvSpPr>
          <p:cNvPr id="9" name="mbl:txt:4" descr="{&quot;mbl&quot;: 1, &quot;c&quot;: &quot;txt&quot;, &quot;i&quot;: 4}"/>
          <p:cNvSpPr txBox="1"/>
          <p:nvPr/>
        </p:nvSpPr>
        <p:spPr>
          <a:xfrm>
            <a:off x="4277258" y="3383280"/>
            <a:ext cx="3637178" cy="2194560"/>
          </a:xfrm>
          <a:prstGeom prst="rect">
            <a:avLst/>
          </a:prstGeom>
          <a:noFill/>
        </p:spPr>
        <p:txBody>
          <a:bodyPr wrap="square" anchor="t" lIns="0" rIns="0" tIns="0" bIns="0">
            <a:noAutofit/>
          </a:bodyPr>
          <a:lstStyle/>
          <a:p>
            <a:pPr algn="l">
              <a:lnSpc>
                <a:spcPct val="115000"/>
              </a:lnSpc>
            </a:pPr>
            <a:r>
              <a:rPr sz="1600" b="0" i="0">
                <a:solidFill>
                  <a:srgbClr val="567F8D"/>
                </a:solidFill>
                <a:latin typeface="Roboto"/>
              </a:rPr>
              <a:t>Preparation and search run inside Postgres. When you use an outside AI service, its key is locked in a credential and limited to approved sites.</a:t>
            </a:r>
          </a:p>
        </p:txBody>
      </p:sp>
      <p:sp>
        <p:nvSpPr>
          <p:cNvPr id="10" name="mbl:tab:3" descr="{&quot;mbl&quot;: 1, &quot;c&quot;: &quot;tab&quot;, &quot;i&quot;: 3}"/>
          <p:cNvSpPr/>
          <p:nvPr/>
        </p:nvSpPr>
        <p:spPr>
          <a:xfrm>
            <a:off x="8188756" y="1417320"/>
            <a:ext cx="3637178" cy="274320"/>
          </a:xfrm>
          <a:prstGeom prst="roundRect">
            <a:avLst>
              <a:gd name="adj" fmla="val 5424"/>
            </a:avLst>
          </a:prstGeom>
          <a:solidFill>
            <a:srgbClr val="2849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a:noAutofit/>
          </a:bodyPr>
          <a:lstStyle/>
          <a:p>
            <a:pPr algn="ctr"/>
            <a:r>
              <a:rPr sz="1200" b="1">
                <a:solidFill>
                  <a:srgbClr val="FFFFFF"/>
                </a:solidFill>
                <a:latin typeface="Roboto Condensed"/>
              </a:rPr>
              <a:t>CURRENT</a:t>
            </a:r>
          </a:p>
        </p:txBody>
      </p:sp>
      <p:sp>
        <p:nvSpPr>
          <p:cNvPr id="11" name="mbl:txt:5" descr="{&quot;mbl&quot;: 1, &quot;c&quot;: &quot;txt&quot;, &quot;i&quot;: 5}"/>
          <p:cNvSpPr txBox="1"/>
          <p:nvPr/>
        </p:nvSpPr>
        <p:spPr>
          <a:xfrm>
            <a:off x="8188756" y="1984248"/>
            <a:ext cx="3637178" cy="1280160"/>
          </a:xfrm>
          <a:prstGeom prst="rect">
            <a:avLst/>
          </a:prstGeom>
          <a:noFill/>
        </p:spPr>
        <p:txBody>
          <a:bodyPr wrap="square" anchor="t" lIns="0" rIns="0" tIns="0" bIns="0">
            <a:noAutofit/>
          </a:bodyPr>
          <a:lstStyle/>
          <a:p>
            <a:pPr algn="l">
              <a:lnSpc>
                <a:spcPct val="100000"/>
              </a:lnSpc>
            </a:pPr>
            <a:r>
              <a:rPr sz="2600" b="1" i="0">
                <a:solidFill>
                  <a:srgbClr val="28495A"/>
                </a:solidFill>
                <a:latin typeface="Roboto Condensed"/>
              </a:rPr>
              <a:t>Answers follow your data.</a:t>
            </a:r>
          </a:p>
        </p:txBody>
      </p:sp>
      <p:sp>
        <p:nvSpPr>
          <p:cNvPr id="12" name="mbl:txt:6" descr="{&quot;mbl&quot;: 1, &quot;c&quot;: &quot;txt&quot;, &quot;i&quot;: 6}"/>
          <p:cNvSpPr txBox="1"/>
          <p:nvPr/>
        </p:nvSpPr>
        <p:spPr>
          <a:xfrm>
            <a:off x="8188756" y="3383280"/>
            <a:ext cx="3637178" cy="2194560"/>
          </a:xfrm>
          <a:prstGeom prst="rect">
            <a:avLst/>
          </a:prstGeom>
          <a:noFill/>
        </p:spPr>
        <p:txBody>
          <a:bodyPr wrap="square" anchor="t" lIns="0" rIns="0" tIns="0" bIns="0">
            <a:noAutofit/>
          </a:bodyPr>
          <a:lstStyle/>
          <a:p>
            <a:pPr algn="l">
              <a:lnSpc>
                <a:spcPct val="115000"/>
              </a:lnSpc>
            </a:pPr>
            <a:r>
              <a:rPr sz="1600" b="0" i="0">
                <a:solidFill>
                  <a:srgbClr val="567F8D"/>
                </a:solidFill>
                <a:latin typeface="Roboto"/>
              </a:rPr>
              <a:t>Pipelines refresh the AI-ready copy when documents or rows change, so answers do not go stale.</a:t>
            </a:r>
          </a:p>
        </p:txBody>
      </p:sp>
      <p:cxnSp>
        <p:nvCxnSpPr>
          <p:cNvPr id="13" name="mbl:hrule:1" descr="{&quot;mbl&quot;: 1, &quot;c&quot;: &quot;hrule&quot;, &quot;i&quot;: 1}"/>
          <p:cNvCxnSpPr/>
          <p:nvPr/>
        </p:nvCxnSpPr>
        <p:spPr>
          <a:xfrm>
            <a:off x="365760" y="5257800"/>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4" name="mbl:runs:1" descr="{&quot;mbl&quot;: 1, &quot;c&quot;: &quot;runs&quot;, &quot;i&quot;: 1}"/>
          <p:cNvSpPr txBox="1"/>
          <p:nvPr/>
        </p:nvSpPr>
        <p:spPr>
          <a:xfrm>
            <a:off x="365760" y="5413248"/>
            <a:ext cx="11460175" cy="457200"/>
          </a:xfrm>
          <a:prstGeom prst="rect">
            <a:avLst/>
          </a:prstGeom>
          <a:noFill/>
        </p:spPr>
        <p:txBody>
          <a:bodyPr wrap="square" anchor="t" lIns="0" rIns="0" tIns="0" bIns="0">
            <a:noAutofit/>
          </a:bodyPr>
          <a:lstStyle/>
          <a:p>
            <a:pPr algn="l">
              <a:lnSpc>
                <a:spcPct val="100000"/>
              </a:lnSpc>
            </a:pPr>
            <a:r>
              <a:rPr sz="1400" b="1">
                <a:solidFill>
                  <a:srgbClr val="28495A"/>
                </a:solidFill>
                <a:latin typeface="Roboto Condensed"/>
              </a:rPr>
              <a:t>Works with  </a:t>
            </a:r>
            <a:r>
              <a:rPr sz="1400" b="0">
                <a:solidFill>
                  <a:srgbClr val="567F8D"/>
                </a:solidFill>
                <a:latin typeface="Roboto"/>
              </a:rPr>
              <a:t>PDFs, web pages, images and scans, and the tables already in your database.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FOUR STEPS TAKE YOU FROM RAW DATA TO ANSWERS</a:t>
            </a:r>
          </a:p>
        </p:txBody>
      </p:sp>
      <p:sp>
        <p:nvSpPr>
          <p:cNvPr id="4" name="mbl:node:1" descr="{&quot;mbl&quot;: 1, &quot;c&quot;: &quot;node&quot;, &quot;i&quot;: 1}"/>
          <p:cNvSpPr/>
          <p:nvPr/>
        </p:nvSpPr>
        <p:spPr>
          <a:xfrm>
            <a:off x="365760" y="1691640"/>
            <a:ext cx="2453563" cy="1417320"/>
          </a:xfrm>
          <a:prstGeom prst="roundRect">
            <a:avLst>
              <a:gd name="adj" fmla="val 5424"/>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600" b="1">
                <a:solidFill>
                  <a:srgbClr val="28495A"/>
                </a:solidFill>
                <a:latin typeface="Roboto Condensed"/>
              </a:rPr>
              <a:t>1  COLLECT</a:t>
            </a:r>
          </a:p>
          <a:p>
            <a:pPr algn="ctr"/>
            <a:r>
              <a:rPr sz="1300">
                <a:solidFill>
                  <a:srgbClr val="567F8D"/>
                </a:solidFill>
                <a:latin typeface="Roboto"/>
              </a:rPr>
              <a:t>Pull in documents, scans and database tables</a:t>
            </a:r>
          </a:p>
        </p:txBody>
      </p:sp>
      <p:sp>
        <p:nvSpPr>
          <p:cNvPr id="5" name="mbl:node:2" descr="{&quot;mbl&quot;: 1, &quot;c&quot;: &quot;node&quot;, &quot;i&quot;: 2}"/>
          <p:cNvSpPr/>
          <p:nvPr/>
        </p:nvSpPr>
        <p:spPr>
          <a:xfrm>
            <a:off x="3367963" y="1691640"/>
            <a:ext cx="2453563" cy="1417320"/>
          </a:xfrm>
          <a:prstGeom prst="roundRect">
            <a:avLst>
              <a:gd name="adj" fmla="val 5424"/>
            </a:avLst>
          </a:prstGeom>
          <a:solidFill>
            <a:srgbClr val="2849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600" b="1">
                <a:solidFill>
                  <a:srgbClr val="FFFFFF"/>
                </a:solidFill>
                <a:latin typeface="Roboto Condensed"/>
              </a:rPr>
              <a:t>2  UNDERSTAND</a:t>
            </a:r>
          </a:p>
          <a:p>
            <a:pPr algn="ctr"/>
            <a:r>
              <a:rPr sz="1300">
                <a:solidFill>
                  <a:srgbClr val="A8C2CA"/>
                </a:solidFill>
                <a:latin typeface="Roboto"/>
              </a:rPr>
              <a:t>Read the text, split it up and index it by meaning</a:t>
            </a:r>
          </a:p>
        </p:txBody>
      </p:sp>
      <p:sp>
        <p:nvSpPr>
          <p:cNvPr id="6" name="mbl:node:3" descr="{&quot;mbl&quot;: 1, &quot;c&quot;: &quot;node&quot;, &quot;i&quot;: 3}"/>
          <p:cNvSpPr/>
          <p:nvPr/>
        </p:nvSpPr>
        <p:spPr>
          <a:xfrm>
            <a:off x="6370167" y="1691640"/>
            <a:ext cx="2453563" cy="1417320"/>
          </a:xfrm>
          <a:prstGeom prst="roundRect">
            <a:avLst>
              <a:gd name="adj" fmla="val 5424"/>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600" b="1">
                <a:solidFill>
                  <a:srgbClr val="28495A"/>
                </a:solidFill>
                <a:latin typeface="Roboto Condensed"/>
              </a:rPr>
              <a:t>3  FIND</a:t>
            </a:r>
          </a:p>
          <a:p>
            <a:pPr algn="ctr"/>
            <a:r>
              <a:rPr sz="1300">
                <a:solidFill>
                  <a:srgbClr val="567F8D"/>
                </a:solidFill>
                <a:latin typeface="Roboto"/>
              </a:rPr>
              <a:t>Search in everyday words and get the closest matches</a:t>
            </a:r>
          </a:p>
        </p:txBody>
      </p:sp>
      <p:sp>
        <p:nvSpPr>
          <p:cNvPr id="7" name="mbl:node:4" descr="{&quot;mbl&quot;: 1, &quot;c&quot;: &quot;node&quot;, &quot;i&quot;: 4}"/>
          <p:cNvSpPr/>
          <p:nvPr/>
        </p:nvSpPr>
        <p:spPr>
          <a:xfrm>
            <a:off x="9372371" y="1691640"/>
            <a:ext cx="2453563" cy="1417320"/>
          </a:xfrm>
          <a:prstGeom prst="roundRect">
            <a:avLst>
              <a:gd name="adj" fmla="val 5424"/>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600" b="1">
                <a:solidFill>
                  <a:srgbClr val="28495A"/>
                </a:solidFill>
                <a:latin typeface="Roboto Condensed"/>
              </a:rPr>
              <a:t>4  ACT</a:t>
            </a:r>
          </a:p>
          <a:p>
            <a:pPr algn="ctr"/>
            <a:r>
              <a:rPr sz="1300">
                <a:solidFill>
                  <a:srgbClr val="567F8D"/>
                </a:solidFill>
                <a:latin typeface="Roboto"/>
              </a:rPr>
              <a:t>Assistants use what was found to finish a task</a:t>
            </a:r>
          </a:p>
        </p:txBody>
      </p:sp>
      <p:pic>
        <p:nvPicPr>
          <p:cNvPr id="8" name="mbl:icon:1" descr="{&quot;mbl&quot;: 1, &quot;c&quot;: &quot;icon&quot;, &quot;i&quot;: 1}"/>
          <p:cNvPicPr>
            <a:picLocks noChangeAspect="1"/>
          </p:cNvPicPr>
          <p:nvPr/>
        </p:nvPicPr>
        <p:blipFill>
          <a:blip r:embed="rId2"/>
          <a:stretch>
            <a:fillRect/>
          </a:stretch>
        </p:blipFill>
        <p:spPr>
          <a:xfrm>
            <a:off x="5501487" y="1783080"/>
            <a:ext cx="228600" cy="228600"/>
          </a:xfrm>
          <a:prstGeom prst="rect">
            <a:avLst/>
          </a:prstGeom>
        </p:spPr>
      </p:pic>
      <p:cxnSp>
        <p:nvCxnSpPr>
          <p:cNvPr id="9" name="mbl:arrow:1" descr="{&quot;mbl&quot;: 1, &quot;c&quot;: &quot;arrow&quot;, &quot;i&quot;: 1}"/>
          <p:cNvCxnSpPr/>
          <p:nvPr/>
        </p:nvCxnSpPr>
        <p:spPr>
          <a:xfrm>
            <a:off x="2819323" y="2400300"/>
            <a:ext cx="548640" cy="3657"/>
          </a:xfrm>
          <a:prstGeom prst="line">
            <a:avLst/>
          </a:prstGeom>
          <a:ln w="25400">
            <a:solidFill>
              <a:srgbClr val="567F8D"/>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0" name="mbl:arrow:2" descr="{&quot;mbl&quot;: 1, &quot;c&quot;: &quot;arrow&quot;, &quot;i&quot;: 2}"/>
          <p:cNvCxnSpPr/>
          <p:nvPr/>
        </p:nvCxnSpPr>
        <p:spPr>
          <a:xfrm>
            <a:off x="5821527" y="2400300"/>
            <a:ext cx="548640" cy="3657"/>
          </a:xfrm>
          <a:prstGeom prst="line">
            <a:avLst/>
          </a:prstGeom>
          <a:ln w="25400">
            <a:solidFill>
              <a:srgbClr val="567F8D"/>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1" name="mbl:arrow:3" descr="{&quot;mbl&quot;: 1, &quot;c&quot;: &quot;arrow&quot;, &quot;i&quot;: 3}"/>
          <p:cNvCxnSpPr/>
          <p:nvPr/>
        </p:nvCxnSpPr>
        <p:spPr>
          <a:xfrm>
            <a:off x="8823731" y="2400300"/>
            <a:ext cx="548640" cy="3657"/>
          </a:xfrm>
          <a:prstGeom prst="line">
            <a:avLst/>
          </a:prstGeom>
          <a:ln w="25400">
            <a:solidFill>
              <a:srgbClr val="567F8D"/>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2" name="mbl:hrule:1" descr="{&quot;mbl&quot;: 1, &quot;c&quot;: &quot;hrule&quot;, &quot;i&quot;: 1}"/>
          <p:cNvCxnSpPr/>
          <p:nvPr/>
        </p:nvCxnSpPr>
        <p:spPr>
          <a:xfrm>
            <a:off x="365760" y="3520440"/>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3" name="mbl:txt:1" descr="{&quot;mbl&quot;: 1, &quot;c&quot;: &quot;txt&quot;, &quot;i&quot;: 1}"/>
          <p:cNvSpPr txBox="1"/>
          <p:nvPr/>
        </p:nvSpPr>
        <p:spPr>
          <a:xfrm>
            <a:off x="365760" y="3703320"/>
            <a:ext cx="4572000" cy="228600"/>
          </a:xfrm>
          <a:prstGeom prst="rect">
            <a:avLst/>
          </a:prstGeom>
          <a:noFill/>
        </p:spPr>
        <p:txBody>
          <a:bodyPr wrap="square" anchor="t" lIns="0" rIns="0" tIns="0" bIns="0">
            <a:noAutofit/>
          </a:bodyPr>
          <a:lstStyle/>
          <a:p>
            <a:pPr algn="l">
              <a:lnSpc>
                <a:spcPct val="100000"/>
              </a:lnSpc>
            </a:pPr>
            <a:r>
              <a:rPr sz="1100" b="1" i="0">
                <a:solidFill>
                  <a:srgbClr val="567F8D"/>
                </a:solidFill>
                <a:latin typeface="Roboto Condensed"/>
              </a:rPr>
              <a:t>WHAT YOU NEED TO START</a:t>
            </a:r>
          </a:p>
        </p:txBody>
      </p:sp>
      <p:sp>
        <p:nvSpPr>
          <p:cNvPr id="14" name="mbl:txt:2" descr="{&quot;mbl&quot;: 1, &quot;c&quot;: &quot;txt&quot;, &quot;i&quot;: 2}"/>
          <p:cNvSpPr txBox="1"/>
          <p:nvPr/>
        </p:nvSpPr>
        <p:spPr>
          <a:xfrm>
            <a:off x="365760" y="4114800"/>
            <a:ext cx="3637178" cy="365760"/>
          </a:xfrm>
          <a:prstGeom prst="rect">
            <a:avLst/>
          </a:prstGeom>
          <a:noFill/>
        </p:spPr>
        <p:txBody>
          <a:bodyPr wrap="square" anchor="t" lIns="0" rIns="0" tIns="0" bIns="0">
            <a:noAutofit/>
          </a:bodyPr>
          <a:lstStyle/>
          <a:p>
            <a:pPr algn="l">
              <a:lnSpc>
                <a:spcPct val="100000"/>
              </a:lnSpc>
            </a:pPr>
            <a:r>
              <a:rPr sz="2000" b="1" i="0">
                <a:solidFill>
                  <a:srgbClr val="28495A"/>
                </a:solidFill>
                <a:latin typeface="Roboto Condensed"/>
              </a:rPr>
              <a:t>A Postgres database</a:t>
            </a:r>
          </a:p>
        </p:txBody>
      </p:sp>
      <p:sp>
        <p:nvSpPr>
          <p:cNvPr id="15" name="mbl:txt:3" descr="{&quot;mbl&quot;: 1, &quot;c&quot;: &quot;txt&quot;, &quot;i&quot;: 3}"/>
          <p:cNvSpPr txBox="1"/>
          <p:nvPr/>
        </p:nvSpPr>
        <p:spPr>
          <a:xfrm>
            <a:off x="365760" y="4572000"/>
            <a:ext cx="3637178" cy="1097280"/>
          </a:xfrm>
          <a:prstGeom prst="rect">
            <a:avLst/>
          </a:prstGeom>
          <a:noFill/>
        </p:spPr>
        <p:txBody>
          <a:bodyPr wrap="square" anchor="t" lIns="0" rIns="0" tIns="0" bIns="0">
            <a:noAutofit/>
          </a:bodyPr>
          <a:lstStyle/>
          <a:p>
            <a:pPr algn="l">
              <a:lnSpc>
                <a:spcPct val="115000"/>
              </a:lnSpc>
            </a:pPr>
            <a:r>
              <a:rPr sz="1500" b="0" i="0">
                <a:solidFill>
                  <a:srgbClr val="567F8D"/>
                </a:solidFill>
                <a:latin typeface="Roboto"/>
              </a:rPr>
              <a:t>With the AIDB extension installed and switched on.</a:t>
            </a:r>
          </a:p>
        </p:txBody>
      </p:sp>
      <p:sp>
        <p:nvSpPr>
          <p:cNvPr id="16" name="mbl:txt:4" descr="{&quot;mbl&quot;: 1, &quot;c&quot;: &quot;txt&quot;, &quot;i&quot;: 4}"/>
          <p:cNvSpPr txBox="1"/>
          <p:nvPr/>
        </p:nvSpPr>
        <p:spPr>
          <a:xfrm>
            <a:off x="4277258" y="4114800"/>
            <a:ext cx="3637178" cy="365760"/>
          </a:xfrm>
          <a:prstGeom prst="rect">
            <a:avLst/>
          </a:prstGeom>
          <a:noFill/>
        </p:spPr>
        <p:txBody>
          <a:bodyPr wrap="square" anchor="t" lIns="0" rIns="0" tIns="0" bIns="0">
            <a:noAutofit/>
          </a:bodyPr>
          <a:lstStyle/>
          <a:p>
            <a:pPr algn="l">
              <a:lnSpc>
                <a:spcPct val="100000"/>
              </a:lnSpc>
            </a:pPr>
            <a:r>
              <a:rPr sz="2000" b="1" i="0">
                <a:solidFill>
                  <a:srgbClr val="28495A"/>
                </a:solidFill>
                <a:latin typeface="Roboto Condensed"/>
              </a:rPr>
              <a:t>One AI model</a:t>
            </a:r>
          </a:p>
        </p:txBody>
      </p:sp>
      <p:sp>
        <p:nvSpPr>
          <p:cNvPr id="17" name="mbl:txt:5" descr="{&quot;mbl&quot;: 1, &quot;c&quot;: &quot;txt&quot;, &quot;i&quot;: 5}"/>
          <p:cNvSpPr txBox="1"/>
          <p:nvPr/>
        </p:nvSpPr>
        <p:spPr>
          <a:xfrm>
            <a:off x="4277258" y="4572000"/>
            <a:ext cx="3637178" cy="1097280"/>
          </a:xfrm>
          <a:prstGeom prst="rect">
            <a:avLst/>
          </a:prstGeom>
          <a:noFill/>
        </p:spPr>
        <p:txBody>
          <a:bodyPr wrap="square" anchor="t" lIns="0" rIns="0" tIns="0" bIns="0">
            <a:noAutofit/>
          </a:bodyPr>
          <a:lstStyle/>
          <a:p>
            <a:pPr algn="l">
              <a:lnSpc>
                <a:spcPct val="115000"/>
              </a:lnSpc>
            </a:pPr>
            <a:r>
              <a:rPr sz="1500" b="0" i="0">
                <a:solidFill>
                  <a:srgbClr val="567F8D"/>
                </a:solidFill>
                <a:latin typeface="Roboto"/>
              </a:rPr>
              <a:t>Either a model that runs inside the database or one from a provider.</a:t>
            </a:r>
          </a:p>
        </p:txBody>
      </p:sp>
      <p:sp>
        <p:nvSpPr>
          <p:cNvPr id="18" name="mbl:txt:6" descr="{&quot;mbl&quot;: 1, &quot;c&quot;: &quot;txt&quot;, &quot;i&quot;: 6}"/>
          <p:cNvSpPr txBox="1"/>
          <p:nvPr/>
        </p:nvSpPr>
        <p:spPr>
          <a:xfrm>
            <a:off x="8188756" y="4114800"/>
            <a:ext cx="3637178" cy="365760"/>
          </a:xfrm>
          <a:prstGeom prst="rect">
            <a:avLst/>
          </a:prstGeom>
          <a:noFill/>
        </p:spPr>
        <p:txBody>
          <a:bodyPr wrap="square" anchor="t" lIns="0" rIns="0" tIns="0" bIns="0">
            <a:noAutofit/>
          </a:bodyPr>
          <a:lstStyle/>
          <a:p>
            <a:pPr algn="l">
              <a:lnSpc>
                <a:spcPct val="100000"/>
              </a:lnSpc>
            </a:pPr>
            <a:r>
              <a:rPr sz="2000" b="1" i="0">
                <a:solidFill>
                  <a:srgbClr val="28495A"/>
                </a:solidFill>
                <a:latin typeface="Roboto Condensed"/>
              </a:rPr>
              <a:t>Something to search</a:t>
            </a:r>
          </a:p>
        </p:txBody>
      </p:sp>
      <p:sp>
        <p:nvSpPr>
          <p:cNvPr id="19" name="mbl:txt:7" descr="{&quot;mbl&quot;: 1, &quot;c&quot;: &quot;txt&quot;, &quot;i&quot;: 7}"/>
          <p:cNvSpPr txBox="1"/>
          <p:nvPr/>
        </p:nvSpPr>
        <p:spPr>
          <a:xfrm>
            <a:off x="8188756" y="4572000"/>
            <a:ext cx="3637178" cy="1097280"/>
          </a:xfrm>
          <a:prstGeom prst="rect">
            <a:avLst/>
          </a:prstGeom>
          <a:noFill/>
        </p:spPr>
        <p:txBody>
          <a:bodyPr wrap="square" anchor="t" lIns="0" rIns="0" tIns="0" bIns="0">
            <a:noAutofit/>
          </a:bodyPr>
          <a:lstStyle/>
          <a:p>
            <a:pPr algn="l">
              <a:lnSpc>
                <a:spcPct val="115000"/>
              </a:lnSpc>
            </a:pPr>
            <a:r>
              <a:rPr sz="1500" b="0" i="0">
                <a:solidFill>
                  <a:srgbClr val="567F8D"/>
                </a:solidFill>
                <a:latin typeface="Roboto"/>
              </a:rPr>
              <a:t>Database tables, or files such as PDFs in cloud storage or a folder.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TEAMS FIND ANSWERS IN THEIR OWN DOCUMENTS BY ASKING</a:t>
            </a:r>
          </a:p>
        </p:txBody>
      </p:sp>
      <p:sp>
        <p:nvSpPr>
          <p:cNvPr id="4" name="mbl:runs:1" descr="{&quot;mbl&quot;: 1, &quot;c&quot;: &quot;runs&quot;, &quot;i&quot;: 1}"/>
          <p:cNvSpPr txBox="1"/>
          <p:nvPr/>
        </p:nvSpPr>
        <p:spPr>
          <a:xfrm>
            <a:off x="365760" y="1371600"/>
            <a:ext cx="11460175" cy="457200"/>
          </a:xfrm>
          <a:prstGeom prst="rect">
            <a:avLst/>
          </a:prstGeom>
          <a:noFill/>
        </p:spPr>
        <p:txBody>
          <a:bodyPr wrap="square" anchor="ctr" lIns="0" rIns="0" tIns="0" bIns="0">
            <a:noAutofit/>
          </a:bodyPr>
          <a:lstStyle/>
          <a:p>
            <a:pPr algn="l">
              <a:lnSpc>
                <a:spcPct val="100000"/>
              </a:lnSpc>
            </a:pPr>
            <a:r>
              <a:rPr sz="1300" b="1">
                <a:solidFill>
                  <a:srgbClr val="567F8D"/>
                </a:solidFill>
                <a:latin typeface="Roboto Condensed"/>
              </a:rPr>
              <a:t>USE CASE  </a:t>
            </a:r>
            <a:r>
              <a:rPr sz="2200" b="1">
                <a:solidFill>
                  <a:srgbClr val="28495A"/>
                </a:solidFill>
                <a:latin typeface="Roboto Condensed"/>
              </a:rPr>
              <a:t>A customer asks: “Can I return something after 30 days?”</a:t>
            </a:r>
          </a:p>
        </p:txBody>
      </p:sp>
      <p:sp>
        <p:nvSpPr>
          <p:cNvPr id="5" name="mbl:tab:1" descr="{&quot;mbl&quot;: 1, &quot;c&quot;: &quot;tab&quot;, &quot;i&quot;: 1}"/>
          <p:cNvSpPr/>
          <p:nvPr/>
        </p:nvSpPr>
        <p:spPr>
          <a:xfrm>
            <a:off x="365760" y="2057400"/>
            <a:ext cx="5559552" cy="274320"/>
          </a:xfrm>
          <a:prstGeom prst="roundRect">
            <a:avLst>
              <a:gd name="adj" fmla="val 5424"/>
            </a:avLst>
          </a:prstGeom>
          <a:solidFill>
            <a:srgbClr val="2849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a:noAutofit/>
          </a:bodyPr>
          <a:lstStyle/>
          <a:p>
            <a:pPr algn="ctr"/>
            <a:r>
              <a:rPr sz="1200" b="1">
                <a:solidFill>
                  <a:srgbClr val="FFFFFF"/>
                </a:solidFill>
                <a:latin typeface="Roboto Condensed"/>
              </a:rPr>
              <a:t>TODAY</a:t>
            </a:r>
          </a:p>
        </p:txBody>
      </p:sp>
      <p:sp>
        <p:nvSpPr>
          <p:cNvPr id="6" name="mbl:tab:2" descr="{&quot;mbl&quot;: 1, &quot;c&quot;: &quot;tab&quot;, &quot;i&quot;: 2}"/>
          <p:cNvSpPr/>
          <p:nvPr/>
        </p:nvSpPr>
        <p:spPr>
          <a:xfrm>
            <a:off x="6263640" y="2057400"/>
            <a:ext cx="5559552" cy="274320"/>
          </a:xfrm>
          <a:prstGeom prst="roundRect">
            <a:avLst>
              <a:gd name="adj" fmla="val 5424"/>
            </a:avLst>
          </a:prstGeom>
          <a:solidFill>
            <a:srgbClr val="2849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a:noAutofit/>
          </a:bodyPr>
          <a:lstStyle/>
          <a:p>
            <a:pPr algn="ctr"/>
            <a:r>
              <a:rPr sz="1200" b="1">
                <a:solidFill>
                  <a:srgbClr val="FFFFFF"/>
                </a:solidFill>
                <a:latin typeface="Roboto Condensed"/>
              </a:rPr>
              <a:t>WITH AIDB</a:t>
            </a:r>
          </a:p>
        </p:txBody>
      </p:sp>
      <p:cxnSp>
        <p:nvCxnSpPr>
          <p:cNvPr id="7" name="mbl:vrule:1" descr="{&quot;mbl&quot;: 1, &quot;c&quot;: &quot;vrule&quot;, &quot;i&quot;: 1}"/>
          <p:cNvCxnSpPr/>
          <p:nvPr/>
        </p:nvCxnSpPr>
        <p:spPr>
          <a:xfrm>
            <a:off x="6096304" y="2103120"/>
            <a:ext cx="0" cy="233172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8" name="mbl:txt:1" descr="{&quot;mbl&quot;: 1, &quot;c&quot;: &quot;txt&quot;, &quot;i&quot;: 1}"/>
          <p:cNvSpPr txBox="1"/>
          <p:nvPr/>
        </p:nvSpPr>
        <p:spPr>
          <a:xfrm>
            <a:off x="365760" y="2560320"/>
            <a:ext cx="5559552" cy="822960"/>
          </a:xfrm>
          <a:prstGeom prst="rect">
            <a:avLst/>
          </a:prstGeom>
          <a:noFill/>
        </p:spPr>
        <p:txBody>
          <a:bodyPr wrap="square" anchor="t" lIns="0" rIns="0" tIns="0" bIns="0">
            <a:noAutofit/>
          </a:bodyPr>
          <a:lstStyle/>
          <a:p>
            <a:pPr algn="l">
              <a:lnSpc>
                <a:spcPct val="100000"/>
              </a:lnSpc>
            </a:pPr>
            <a:r>
              <a:rPr sz="2000" b="1" i="0">
                <a:solidFill>
                  <a:srgbClr val="28495A"/>
                </a:solidFill>
                <a:latin typeface="Roboto Condensed"/>
              </a:rPr>
              <a:t>Staff search by keyword and read many pages.</a:t>
            </a:r>
          </a:p>
        </p:txBody>
      </p:sp>
      <p:sp>
        <p:nvSpPr>
          <p:cNvPr id="9" name="mbl:txt:2" descr="{&quot;mbl&quot;: 1, &quot;c&quot;: &quot;txt&quot;, &quot;i&quot;: 2}"/>
          <p:cNvSpPr txBox="1"/>
          <p:nvPr/>
        </p:nvSpPr>
        <p:spPr>
          <a:xfrm>
            <a:off x="365760" y="3429000"/>
            <a:ext cx="5559552" cy="914400"/>
          </a:xfrm>
          <a:prstGeom prst="rect">
            <a:avLst/>
          </a:prstGeom>
          <a:noFill/>
        </p:spPr>
        <p:txBody>
          <a:bodyPr wrap="square" anchor="t" lIns="0" rIns="0" tIns="0" bIns="0">
            <a:noAutofit/>
          </a:bodyPr>
          <a:lstStyle/>
          <a:p>
            <a:pPr algn="l">
              <a:lnSpc>
                <a:spcPct val="115000"/>
              </a:lnSpc>
            </a:pPr>
            <a:r>
              <a:rPr sz="1600" b="0" i="0">
                <a:solidFill>
                  <a:srgbClr val="567F8D"/>
                </a:solidFill>
                <a:latin typeface="Roboto"/>
              </a:rPr>
              <a:t>Pages that use different words are missed, and answers vary from person to person.</a:t>
            </a:r>
          </a:p>
        </p:txBody>
      </p:sp>
      <p:sp>
        <p:nvSpPr>
          <p:cNvPr id="10" name="mbl:txt:3" descr="{&quot;mbl&quot;: 1, &quot;c&quot;: &quot;txt&quot;, &quot;i&quot;: 3}"/>
          <p:cNvSpPr txBox="1"/>
          <p:nvPr/>
        </p:nvSpPr>
        <p:spPr>
          <a:xfrm>
            <a:off x="6263640" y="2560320"/>
            <a:ext cx="5559552" cy="822960"/>
          </a:xfrm>
          <a:prstGeom prst="rect">
            <a:avLst/>
          </a:prstGeom>
          <a:noFill/>
        </p:spPr>
        <p:txBody>
          <a:bodyPr wrap="square" anchor="t" lIns="0" rIns="0" tIns="0" bIns="0">
            <a:noAutofit/>
          </a:bodyPr>
          <a:lstStyle/>
          <a:p>
            <a:pPr algn="l">
              <a:lnSpc>
                <a:spcPct val="100000"/>
              </a:lnSpc>
            </a:pPr>
            <a:r>
              <a:rPr sz="2000" b="1" i="0">
                <a:solidFill>
                  <a:srgbClr val="28495A"/>
                </a:solidFill>
                <a:latin typeface="Roboto Condensed"/>
              </a:rPr>
              <a:t>Staff ask in their own words and get the closest passages.</a:t>
            </a:r>
          </a:p>
        </p:txBody>
      </p:sp>
      <p:sp>
        <p:nvSpPr>
          <p:cNvPr id="11" name="mbl:txt:4" descr="{&quot;mbl&quot;: 1, &quot;c&quot;: &quot;txt&quot;, &quot;i&quot;: 4}"/>
          <p:cNvSpPr txBox="1"/>
          <p:nvPr/>
        </p:nvSpPr>
        <p:spPr>
          <a:xfrm>
            <a:off x="6263640" y="3429000"/>
            <a:ext cx="5559552" cy="914400"/>
          </a:xfrm>
          <a:prstGeom prst="rect">
            <a:avLst/>
          </a:prstGeom>
          <a:noFill/>
        </p:spPr>
        <p:txBody>
          <a:bodyPr wrap="square" anchor="t" lIns="0" rIns="0" tIns="0" bIns="0">
            <a:noAutofit/>
          </a:bodyPr>
          <a:lstStyle/>
          <a:p>
            <a:pPr algn="l">
              <a:lnSpc>
                <a:spcPct val="115000"/>
              </a:lnSpc>
            </a:pPr>
            <a:r>
              <a:rPr sz="1600" b="0" i="0">
                <a:solidFill>
                  <a:srgbClr val="567F8D"/>
                </a:solidFill>
                <a:latin typeface="Roboto"/>
              </a:rPr>
              <a:t>Each answer points back to its source passage, so it can be checked.</a:t>
            </a:r>
          </a:p>
        </p:txBody>
      </p:sp>
      <p:cxnSp>
        <p:nvCxnSpPr>
          <p:cNvPr id="12" name="mbl:hrule:1" descr="{&quot;mbl&quot;: 1, &quot;c&quot;: &quot;hrule&quot;, &quot;i&quot;: 1}"/>
          <p:cNvCxnSpPr/>
          <p:nvPr/>
        </p:nvCxnSpPr>
        <p:spPr>
          <a:xfrm>
            <a:off x="365760" y="4617720"/>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3" name="mbl:txt:5" descr="{&quot;mbl&quot;: 1, &quot;c&quot;: &quot;txt&quot;, &quot;i&quot;: 5}"/>
          <p:cNvSpPr txBox="1"/>
          <p:nvPr/>
        </p:nvSpPr>
        <p:spPr>
          <a:xfrm>
            <a:off x="365760" y="4754880"/>
            <a:ext cx="5486400" cy="228600"/>
          </a:xfrm>
          <a:prstGeom prst="rect">
            <a:avLst/>
          </a:prstGeom>
          <a:noFill/>
        </p:spPr>
        <p:txBody>
          <a:bodyPr wrap="square" anchor="t" lIns="0" rIns="0" tIns="0" bIns="0">
            <a:noAutofit/>
          </a:bodyPr>
          <a:lstStyle/>
          <a:p>
            <a:pPr algn="l">
              <a:lnSpc>
                <a:spcPct val="100000"/>
              </a:lnSpc>
            </a:pPr>
            <a:r>
              <a:rPr sz="1100" b="1" i="0">
                <a:solidFill>
                  <a:srgbClr val="567F8D"/>
                </a:solidFill>
                <a:latin typeface="Roboto Condensed"/>
              </a:rPr>
              <a:t>TEAMS THAT BENEFIT (EXAMPLES)</a:t>
            </a:r>
          </a:p>
        </p:txBody>
      </p:sp>
      <p:sp>
        <p:nvSpPr>
          <p:cNvPr id="14" name="mbl:txt:6" descr="{&quot;mbl&quot;: 1, &quot;c&quot;: &quot;txt&quot;, &quot;i&quot;: 6}"/>
          <p:cNvSpPr txBox="1"/>
          <p:nvPr/>
        </p:nvSpPr>
        <p:spPr>
          <a:xfrm>
            <a:off x="365760" y="5074920"/>
            <a:ext cx="3637178" cy="320040"/>
          </a:xfrm>
          <a:prstGeom prst="rect">
            <a:avLst/>
          </a:prstGeom>
          <a:noFill/>
        </p:spPr>
        <p:txBody>
          <a:bodyPr wrap="square" anchor="t" lIns="0" rIns="0" tIns="0" bIns="0">
            <a:noAutofit/>
          </a:bodyPr>
          <a:lstStyle/>
          <a:p>
            <a:pPr algn="l">
              <a:lnSpc>
                <a:spcPct val="100000"/>
              </a:lnSpc>
            </a:pPr>
            <a:r>
              <a:rPr sz="1800" b="1" i="0">
                <a:solidFill>
                  <a:srgbClr val="28495A"/>
                </a:solidFill>
                <a:latin typeface="Roboto Condensed"/>
              </a:rPr>
              <a:t>Customer support</a:t>
            </a:r>
          </a:p>
        </p:txBody>
      </p:sp>
      <p:sp>
        <p:nvSpPr>
          <p:cNvPr id="15" name="mbl:txt:7" descr="{&quot;mbl&quot;: 1, &quot;c&quot;: &quot;txt&quot;, &quot;i&quot;: 7}"/>
          <p:cNvSpPr txBox="1"/>
          <p:nvPr/>
        </p:nvSpPr>
        <p:spPr>
          <a:xfrm>
            <a:off x="365760" y="5413248"/>
            <a:ext cx="3637178" cy="640080"/>
          </a:xfrm>
          <a:prstGeom prst="rect">
            <a:avLst/>
          </a:prstGeom>
          <a:noFill/>
        </p:spPr>
        <p:txBody>
          <a:bodyPr wrap="square" anchor="t" lIns="0" rIns="0" tIns="0" bIns="0">
            <a:noAutofit/>
          </a:bodyPr>
          <a:lstStyle/>
          <a:p>
            <a:pPr algn="l">
              <a:lnSpc>
                <a:spcPct val="110000"/>
              </a:lnSpc>
            </a:pPr>
            <a:r>
              <a:rPr sz="1400" b="0" i="0">
                <a:solidFill>
                  <a:srgbClr val="567F8D"/>
                </a:solidFill>
                <a:latin typeface="Roboto"/>
              </a:rPr>
              <a:t>Faster, more consistent replies.</a:t>
            </a:r>
          </a:p>
        </p:txBody>
      </p:sp>
      <p:sp>
        <p:nvSpPr>
          <p:cNvPr id="16" name="mbl:txt:8" descr="{&quot;mbl&quot;: 1, &quot;c&quot;: &quot;txt&quot;, &quot;i&quot;: 8}"/>
          <p:cNvSpPr txBox="1"/>
          <p:nvPr/>
        </p:nvSpPr>
        <p:spPr>
          <a:xfrm>
            <a:off x="4277258" y="5074920"/>
            <a:ext cx="3637178" cy="320040"/>
          </a:xfrm>
          <a:prstGeom prst="rect">
            <a:avLst/>
          </a:prstGeom>
          <a:noFill/>
        </p:spPr>
        <p:txBody>
          <a:bodyPr wrap="square" anchor="t" lIns="0" rIns="0" tIns="0" bIns="0">
            <a:noAutofit/>
          </a:bodyPr>
          <a:lstStyle/>
          <a:p>
            <a:pPr algn="l">
              <a:lnSpc>
                <a:spcPct val="100000"/>
              </a:lnSpc>
            </a:pPr>
            <a:r>
              <a:rPr sz="1800" b="1" i="0">
                <a:solidFill>
                  <a:srgbClr val="28495A"/>
                </a:solidFill>
                <a:latin typeface="Roboto Condensed"/>
              </a:rPr>
              <a:t>HR and legal</a:t>
            </a:r>
          </a:p>
        </p:txBody>
      </p:sp>
      <p:sp>
        <p:nvSpPr>
          <p:cNvPr id="17" name="mbl:txt:9" descr="{&quot;mbl&quot;: 1, &quot;c&quot;: &quot;txt&quot;, &quot;i&quot;: 9}"/>
          <p:cNvSpPr txBox="1"/>
          <p:nvPr/>
        </p:nvSpPr>
        <p:spPr>
          <a:xfrm>
            <a:off x="4277258" y="5413248"/>
            <a:ext cx="3637178" cy="640080"/>
          </a:xfrm>
          <a:prstGeom prst="rect">
            <a:avLst/>
          </a:prstGeom>
          <a:noFill/>
        </p:spPr>
        <p:txBody>
          <a:bodyPr wrap="square" anchor="t" lIns="0" rIns="0" tIns="0" bIns="0">
            <a:noAutofit/>
          </a:bodyPr>
          <a:lstStyle/>
          <a:p>
            <a:pPr algn="l">
              <a:lnSpc>
                <a:spcPct val="110000"/>
              </a:lnSpc>
            </a:pPr>
            <a:r>
              <a:rPr sz="1400" b="0" i="0">
                <a:solidFill>
                  <a:srgbClr val="567F8D"/>
                </a:solidFill>
                <a:latin typeface="Roboto"/>
              </a:rPr>
              <a:t>Find the policy or clause without knowing its title.</a:t>
            </a:r>
          </a:p>
        </p:txBody>
      </p:sp>
      <p:sp>
        <p:nvSpPr>
          <p:cNvPr id="18" name="mbl:txt:10" descr="{&quot;mbl&quot;: 1, &quot;c&quot;: &quot;txt&quot;, &quot;i&quot;: 10}"/>
          <p:cNvSpPr txBox="1"/>
          <p:nvPr/>
        </p:nvSpPr>
        <p:spPr>
          <a:xfrm>
            <a:off x="8188756" y="5074920"/>
            <a:ext cx="3637178" cy="320040"/>
          </a:xfrm>
          <a:prstGeom prst="rect">
            <a:avLst/>
          </a:prstGeom>
          <a:noFill/>
        </p:spPr>
        <p:txBody>
          <a:bodyPr wrap="square" anchor="t" lIns="0" rIns="0" tIns="0" bIns="0">
            <a:noAutofit/>
          </a:bodyPr>
          <a:lstStyle/>
          <a:p>
            <a:pPr algn="l">
              <a:lnSpc>
                <a:spcPct val="100000"/>
              </a:lnSpc>
            </a:pPr>
            <a:r>
              <a:rPr sz="1800" b="1" i="0">
                <a:solidFill>
                  <a:srgbClr val="28495A"/>
                </a:solidFill>
                <a:latin typeface="Roboto Condensed"/>
              </a:rPr>
              <a:t>Sales</a:t>
            </a:r>
          </a:p>
        </p:txBody>
      </p:sp>
      <p:sp>
        <p:nvSpPr>
          <p:cNvPr id="19" name="mbl:txt:11" descr="{&quot;mbl&quot;: 1, &quot;c&quot;: &quot;txt&quot;, &quot;i&quot;: 11}"/>
          <p:cNvSpPr txBox="1"/>
          <p:nvPr/>
        </p:nvSpPr>
        <p:spPr>
          <a:xfrm>
            <a:off x="8188756" y="5413248"/>
            <a:ext cx="3637178" cy="640080"/>
          </a:xfrm>
          <a:prstGeom prst="rect">
            <a:avLst/>
          </a:prstGeom>
          <a:noFill/>
        </p:spPr>
        <p:txBody>
          <a:bodyPr wrap="square" anchor="t" lIns="0" rIns="0" tIns="0" bIns="0">
            <a:noAutofit/>
          </a:bodyPr>
          <a:lstStyle/>
          <a:p>
            <a:pPr algn="l">
              <a:lnSpc>
                <a:spcPct val="110000"/>
              </a:lnSpc>
            </a:pPr>
            <a:r>
              <a:rPr sz="1400" b="0" i="0">
                <a:solidFill>
                  <a:srgbClr val="567F8D"/>
                </a:solidFill>
                <a:latin typeface="Roboto"/>
              </a:rPr>
              <a:t>Find the right collateral for the question in front of them.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PDFS AND SCANS BECOME SEARCHABLE WITHOUT MANUAL WORK</a:t>
            </a:r>
          </a:p>
        </p:txBody>
      </p:sp>
      <p:sp>
        <p:nvSpPr>
          <p:cNvPr id="4" name="mbl:node:1" descr="{&quot;mbl&quot;: 1, &quot;c&quot;: &quot;node&quot;, &quot;i&quot;: 1}"/>
          <p:cNvSpPr/>
          <p:nvPr/>
        </p:nvSpPr>
        <p:spPr>
          <a:xfrm>
            <a:off x="365760" y="1691640"/>
            <a:ext cx="2453563" cy="1417320"/>
          </a:xfrm>
          <a:prstGeom prst="roundRect">
            <a:avLst>
              <a:gd name="adj" fmla="val 5424"/>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600" b="1">
                <a:solidFill>
                  <a:srgbClr val="28495A"/>
                </a:solidFill>
                <a:latin typeface="Roboto Condensed"/>
              </a:rPr>
              <a:t>FILES</a:t>
            </a:r>
          </a:p>
          <a:p>
            <a:pPr algn="ctr"/>
            <a:r>
              <a:rPr sz="1300">
                <a:solidFill>
                  <a:srgbClr val="567F8D"/>
                </a:solidFill>
                <a:latin typeface="Roboto"/>
              </a:rPr>
              <a:t>PDFs, web pages, scans and database tables</a:t>
            </a:r>
          </a:p>
        </p:txBody>
      </p:sp>
      <p:sp>
        <p:nvSpPr>
          <p:cNvPr id="5" name="mbl:node:2" descr="{&quot;mbl&quot;: 1, &quot;c&quot;: &quot;node&quot;, &quot;i&quot;: 2}"/>
          <p:cNvSpPr/>
          <p:nvPr/>
        </p:nvSpPr>
        <p:spPr>
          <a:xfrm>
            <a:off x="3367963" y="1691640"/>
            <a:ext cx="2453563" cy="1417320"/>
          </a:xfrm>
          <a:prstGeom prst="roundRect">
            <a:avLst>
              <a:gd name="adj" fmla="val 5424"/>
            </a:avLst>
          </a:prstGeom>
          <a:solidFill>
            <a:srgbClr val="E8F2F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600" b="1">
                <a:solidFill>
                  <a:srgbClr val="28495A"/>
                </a:solidFill>
                <a:latin typeface="Roboto Condensed"/>
              </a:rPr>
              <a:t>READ</a:t>
            </a:r>
          </a:p>
          <a:p>
            <a:pPr algn="ctr"/>
            <a:r>
              <a:rPr sz="1300">
                <a:solidFill>
                  <a:srgbClr val="567F8D"/>
                </a:solidFill>
                <a:latin typeface="Roboto"/>
              </a:rPr>
              <a:t>Text is pulled out, and scans are read with OCR</a:t>
            </a:r>
          </a:p>
        </p:txBody>
      </p:sp>
      <p:sp>
        <p:nvSpPr>
          <p:cNvPr id="6" name="mbl:node:3" descr="{&quot;mbl&quot;: 1, &quot;c&quot;: &quot;node&quot;, &quot;i&quot;: 3}"/>
          <p:cNvSpPr/>
          <p:nvPr/>
        </p:nvSpPr>
        <p:spPr>
          <a:xfrm>
            <a:off x="6370167" y="1691640"/>
            <a:ext cx="2453563" cy="1417320"/>
          </a:xfrm>
          <a:prstGeom prst="roundRect">
            <a:avLst>
              <a:gd name="adj" fmla="val 5424"/>
            </a:avLst>
          </a:prstGeom>
          <a:solidFill>
            <a:srgbClr val="2849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600" b="1">
                <a:solidFill>
                  <a:srgbClr val="FFFFFF"/>
                </a:solidFill>
                <a:latin typeface="Roboto Condensed"/>
              </a:rPr>
              <a:t>PREPARE</a:t>
            </a:r>
          </a:p>
          <a:p>
            <a:pPr algn="ctr"/>
            <a:r>
              <a:rPr sz="1300">
                <a:solidFill>
                  <a:srgbClr val="A8C2CA"/>
                </a:solidFill>
                <a:latin typeface="Roboto"/>
              </a:rPr>
              <a:t>The text is split up and indexed by meaning</a:t>
            </a:r>
          </a:p>
        </p:txBody>
      </p:sp>
      <p:sp>
        <p:nvSpPr>
          <p:cNvPr id="7" name="mbl:node:4" descr="{&quot;mbl&quot;: 1, &quot;c&quot;: &quot;node&quot;, &quot;i&quot;: 4}"/>
          <p:cNvSpPr/>
          <p:nvPr/>
        </p:nvSpPr>
        <p:spPr>
          <a:xfrm>
            <a:off x="9372371" y="1691640"/>
            <a:ext cx="2453563" cy="1417320"/>
          </a:xfrm>
          <a:prstGeom prst="roundRect">
            <a:avLst>
              <a:gd name="adj" fmla="val 5424"/>
            </a:avLst>
          </a:prstGeom>
          <a:solidFill>
            <a:srgbClr val="1E3D4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36576" bIns="36576">
            <a:noAutofit/>
          </a:bodyPr>
          <a:lstStyle/>
          <a:p>
            <a:pPr algn="ctr"/>
            <a:r>
              <a:rPr sz="1600" b="1">
                <a:solidFill>
                  <a:srgbClr val="FFFFFF"/>
                </a:solidFill>
                <a:latin typeface="Roboto Condensed"/>
              </a:rPr>
              <a:t>SEARCHABLE</a:t>
            </a:r>
          </a:p>
          <a:p>
            <a:pPr algn="ctr"/>
            <a:r>
              <a:rPr sz="1300">
                <a:solidFill>
                  <a:srgbClr val="A8C2CA"/>
                </a:solidFill>
                <a:latin typeface="Roboto"/>
              </a:rPr>
              <a:t>A knowledge base that anyone can ask</a:t>
            </a:r>
          </a:p>
        </p:txBody>
      </p:sp>
      <p:pic>
        <p:nvPicPr>
          <p:cNvPr id="8" name="mbl:icon:1" descr="{&quot;mbl&quot;: 1, &quot;c&quot;: &quot;icon&quot;, &quot;i&quot;: 1}"/>
          <p:cNvPicPr>
            <a:picLocks noChangeAspect="1"/>
          </p:cNvPicPr>
          <p:nvPr/>
        </p:nvPicPr>
        <p:blipFill>
          <a:blip r:embed="rId2"/>
          <a:stretch>
            <a:fillRect/>
          </a:stretch>
        </p:blipFill>
        <p:spPr>
          <a:xfrm>
            <a:off x="11505895" y="1783080"/>
            <a:ext cx="228600" cy="228600"/>
          </a:xfrm>
          <a:prstGeom prst="rect">
            <a:avLst/>
          </a:prstGeom>
        </p:spPr>
      </p:pic>
      <p:cxnSp>
        <p:nvCxnSpPr>
          <p:cNvPr id="9" name="mbl:arrow:1" descr="{&quot;mbl&quot;: 1, &quot;c&quot;: &quot;arrow&quot;, &quot;i&quot;: 1}"/>
          <p:cNvCxnSpPr/>
          <p:nvPr/>
        </p:nvCxnSpPr>
        <p:spPr>
          <a:xfrm>
            <a:off x="2819323" y="2400300"/>
            <a:ext cx="548640" cy="3657"/>
          </a:xfrm>
          <a:prstGeom prst="line">
            <a:avLst/>
          </a:prstGeom>
          <a:ln w="25400">
            <a:solidFill>
              <a:srgbClr val="567F8D"/>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0" name="mbl:arrow:2" descr="{&quot;mbl&quot;: 1, &quot;c&quot;: &quot;arrow&quot;, &quot;i&quot;: 2}"/>
          <p:cNvCxnSpPr/>
          <p:nvPr/>
        </p:nvCxnSpPr>
        <p:spPr>
          <a:xfrm>
            <a:off x="5821527" y="2400300"/>
            <a:ext cx="548640" cy="3657"/>
          </a:xfrm>
          <a:prstGeom prst="line">
            <a:avLst/>
          </a:prstGeom>
          <a:ln w="25400">
            <a:solidFill>
              <a:srgbClr val="567F8D"/>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1" name="mbl:arrow:3" descr="{&quot;mbl&quot;: 1, &quot;c&quot;: &quot;arrow&quot;, &quot;i&quot;: 3}"/>
          <p:cNvCxnSpPr/>
          <p:nvPr/>
        </p:nvCxnSpPr>
        <p:spPr>
          <a:xfrm>
            <a:off x="8823731" y="2400300"/>
            <a:ext cx="548640" cy="3657"/>
          </a:xfrm>
          <a:prstGeom prst="line">
            <a:avLst/>
          </a:prstGeom>
          <a:ln w="25400">
            <a:solidFill>
              <a:srgbClr val="567F8D"/>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2" name="mbl:runs:1" descr="{&quot;mbl&quot;: 1, &quot;c&quot;: &quot;runs&quot;, &quot;i&quot;: 1}"/>
          <p:cNvSpPr txBox="1"/>
          <p:nvPr/>
        </p:nvSpPr>
        <p:spPr>
          <a:xfrm>
            <a:off x="365760" y="3383280"/>
            <a:ext cx="11460175" cy="365760"/>
          </a:xfrm>
          <a:prstGeom prst="rect">
            <a:avLst/>
          </a:prstGeom>
          <a:noFill/>
        </p:spPr>
        <p:txBody>
          <a:bodyPr wrap="square" anchor="ctr" lIns="0" rIns="0" tIns="0" bIns="0">
            <a:noAutofit/>
          </a:bodyPr>
          <a:lstStyle/>
          <a:p>
            <a:pPr algn="l">
              <a:lnSpc>
                <a:spcPct val="100000"/>
              </a:lnSpc>
            </a:pPr>
            <a:r>
              <a:rPr sz="1300" b="1">
                <a:solidFill>
                  <a:srgbClr val="567F8D"/>
                </a:solidFill>
                <a:latin typeface="Roboto Condensed"/>
              </a:rPr>
              <a:t>USE CASE  </a:t>
            </a:r>
            <a:r>
              <a:rPr sz="1600" b="0">
                <a:solidFill>
                  <a:srgbClr val="28495A"/>
                </a:solidFill>
                <a:latin typeface="Roboto"/>
              </a:rPr>
              <a:t>A folder of contracts, manuals or invoices that grows every week.</a:t>
            </a:r>
          </a:p>
        </p:txBody>
      </p:sp>
      <p:cxnSp>
        <p:nvCxnSpPr>
          <p:cNvPr id="13" name="mbl:hrule:1" descr="{&quot;mbl&quot;: 1, &quot;c&quot;: &quot;hrule&quot;, &quot;i&quot;: 1}"/>
          <p:cNvCxnSpPr/>
          <p:nvPr/>
        </p:nvCxnSpPr>
        <p:spPr>
          <a:xfrm>
            <a:off x="365760" y="3931920"/>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4" name="mbl:txt:1" descr="{&quot;mbl&quot;: 1, &quot;c&quot;: &quot;txt&quot;, &quot;i&quot;: 1}"/>
          <p:cNvSpPr txBox="1"/>
          <p:nvPr/>
        </p:nvSpPr>
        <p:spPr>
          <a:xfrm>
            <a:off x="365760" y="4114800"/>
            <a:ext cx="4572000" cy="228600"/>
          </a:xfrm>
          <a:prstGeom prst="rect">
            <a:avLst/>
          </a:prstGeom>
          <a:noFill/>
        </p:spPr>
        <p:txBody>
          <a:bodyPr wrap="square" anchor="t" lIns="0" rIns="0" tIns="0" bIns="0">
            <a:noAutofit/>
          </a:bodyPr>
          <a:lstStyle/>
          <a:p>
            <a:pPr algn="l">
              <a:lnSpc>
                <a:spcPct val="100000"/>
              </a:lnSpc>
            </a:pPr>
            <a:r>
              <a:rPr sz="1100" b="1" i="0">
                <a:solidFill>
                  <a:srgbClr val="567F8D"/>
                </a:solidFill>
                <a:latin typeface="Roboto Condensed"/>
              </a:rPr>
              <a:t>WHAT YOU GAIN</a:t>
            </a:r>
          </a:p>
        </p:txBody>
      </p:sp>
      <p:sp>
        <p:nvSpPr>
          <p:cNvPr id="15" name="mbl:txt:2" descr="{&quot;mbl&quot;: 1, &quot;c&quot;: &quot;txt&quot;, &quot;i&quot;: 2}"/>
          <p:cNvSpPr txBox="1"/>
          <p:nvPr/>
        </p:nvSpPr>
        <p:spPr>
          <a:xfrm>
            <a:off x="365760" y="4480560"/>
            <a:ext cx="3637178" cy="365760"/>
          </a:xfrm>
          <a:prstGeom prst="rect">
            <a:avLst/>
          </a:prstGeom>
          <a:noFill/>
        </p:spPr>
        <p:txBody>
          <a:bodyPr wrap="square" anchor="t" lIns="0" rIns="0" tIns="0" bIns="0">
            <a:noAutofit/>
          </a:bodyPr>
          <a:lstStyle/>
          <a:p>
            <a:pPr algn="l">
              <a:lnSpc>
                <a:spcPct val="100000"/>
              </a:lnSpc>
            </a:pPr>
            <a:r>
              <a:rPr sz="2000" b="1" i="0">
                <a:solidFill>
                  <a:srgbClr val="28495A"/>
                </a:solidFill>
                <a:latin typeface="Roboto Condensed"/>
              </a:rPr>
              <a:t>Hands-off</a:t>
            </a:r>
          </a:p>
        </p:txBody>
      </p:sp>
      <p:sp>
        <p:nvSpPr>
          <p:cNvPr id="16" name="mbl:txt:3" descr="{&quot;mbl&quot;: 1, &quot;c&quot;: &quot;txt&quot;, &quot;i&quot;: 3}"/>
          <p:cNvSpPr txBox="1"/>
          <p:nvPr/>
        </p:nvSpPr>
        <p:spPr>
          <a:xfrm>
            <a:off x="365760" y="4937760"/>
            <a:ext cx="3637178" cy="1005840"/>
          </a:xfrm>
          <a:prstGeom prst="rect">
            <a:avLst/>
          </a:prstGeom>
          <a:noFill/>
        </p:spPr>
        <p:txBody>
          <a:bodyPr wrap="square" anchor="t" lIns="0" rIns="0" tIns="0" bIns="0">
            <a:noAutofit/>
          </a:bodyPr>
          <a:lstStyle/>
          <a:p>
            <a:pPr algn="l">
              <a:lnSpc>
                <a:spcPct val="115000"/>
              </a:lnSpc>
            </a:pPr>
            <a:r>
              <a:rPr sz="1500" b="0" i="0">
                <a:solidFill>
                  <a:srgbClr val="567F8D"/>
                </a:solidFill>
                <a:latin typeface="Roboto"/>
              </a:rPr>
              <a:t>Runs on a schedule or whenever the source changes.</a:t>
            </a:r>
          </a:p>
        </p:txBody>
      </p:sp>
      <p:sp>
        <p:nvSpPr>
          <p:cNvPr id="17" name="mbl:txt:4" descr="{&quot;mbl&quot;: 1, &quot;c&quot;: &quot;txt&quot;, &quot;i&quot;: 4}"/>
          <p:cNvSpPr txBox="1"/>
          <p:nvPr/>
        </p:nvSpPr>
        <p:spPr>
          <a:xfrm>
            <a:off x="4277258" y="4480560"/>
            <a:ext cx="3637178" cy="365760"/>
          </a:xfrm>
          <a:prstGeom prst="rect">
            <a:avLst/>
          </a:prstGeom>
          <a:noFill/>
        </p:spPr>
        <p:txBody>
          <a:bodyPr wrap="square" anchor="t" lIns="0" rIns="0" tIns="0" bIns="0">
            <a:noAutofit/>
          </a:bodyPr>
          <a:lstStyle/>
          <a:p>
            <a:pPr algn="l">
              <a:lnSpc>
                <a:spcPct val="100000"/>
              </a:lnSpc>
            </a:pPr>
            <a:r>
              <a:rPr sz="2000" b="1" i="0">
                <a:solidFill>
                  <a:srgbClr val="28495A"/>
                </a:solidFill>
                <a:latin typeface="Roboto Condensed"/>
              </a:rPr>
              <a:t>Always current</a:t>
            </a:r>
          </a:p>
        </p:txBody>
      </p:sp>
      <p:sp>
        <p:nvSpPr>
          <p:cNvPr id="18" name="mbl:txt:5" descr="{&quot;mbl&quot;: 1, &quot;c&quot;: &quot;txt&quot;, &quot;i&quot;: 5}"/>
          <p:cNvSpPr txBox="1"/>
          <p:nvPr/>
        </p:nvSpPr>
        <p:spPr>
          <a:xfrm>
            <a:off x="4277258" y="4937760"/>
            <a:ext cx="3637178" cy="1005840"/>
          </a:xfrm>
          <a:prstGeom prst="rect">
            <a:avLst/>
          </a:prstGeom>
          <a:noFill/>
        </p:spPr>
        <p:txBody>
          <a:bodyPr wrap="square" anchor="t" lIns="0" rIns="0" tIns="0" bIns="0">
            <a:noAutofit/>
          </a:bodyPr>
          <a:lstStyle/>
          <a:p>
            <a:pPr algn="l">
              <a:lnSpc>
                <a:spcPct val="115000"/>
              </a:lnSpc>
            </a:pPr>
            <a:r>
              <a:rPr sz="1500" b="0" i="0">
                <a:solidFill>
                  <a:srgbClr val="567F8D"/>
                </a:solidFill>
                <a:latin typeface="Roboto"/>
              </a:rPr>
              <a:t>New and edited files flow through automatically.</a:t>
            </a:r>
          </a:p>
        </p:txBody>
      </p:sp>
      <p:sp>
        <p:nvSpPr>
          <p:cNvPr id="19" name="mbl:txt:6" descr="{&quot;mbl&quot;: 1, &quot;c&quot;: &quot;txt&quot;, &quot;i&quot;: 6}"/>
          <p:cNvSpPr txBox="1"/>
          <p:nvPr/>
        </p:nvSpPr>
        <p:spPr>
          <a:xfrm>
            <a:off x="8188756" y="4480560"/>
            <a:ext cx="3637178" cy="365760"/>
          </a:xfrm>
          <a:prstGeom prst="rect">
            <a:avLst/>
          </a:prstGeom>
          <a:noFill/>
        </p:spPr>
        <p:txBody>
          <a:bodyPr wrap="square" anchor="t" lIns="0" rIns="0" tIns="0" bIns="0">
            <a:noAutofit/>
          </a:bodyPr>
          <a:lstStyle/>
          <a:p>
            <a:pPr algn="l">
              <a:lnSpc>
                <a:spcPct val="100000"/>
              </a:lnSpc>
            </a:pPr>
            <a:r>
              <a:rPr sz="2000" b="1" i="0">
                <a:solidFill>
                  <a:srgbClr val="28495A"/>
                </a:solidFill>
                <a:latin typeface="Roboto Condensed"/>
              </a:rPr>
              <a:t>Scans included</a:t>
            </a:r>
          </a:p>
        </p:txBody>
      </p:sp>
      <p:sp>
        <p:nvSpPr>
          <p:cNvPr id="20" name="mbl:txt:7" descr="{&quot;mbl&quot;: 1, &quot;c&quot;: &quot;txt&quot;, &quot;i&quot;: 7}"/>
          <p:cNvSpPr txBox="1"/>
          <p:nvPr/>
        </p:nvSpPr>
        <p:spPr>
          <a:xfrm>
            <a:off x="8188756" y="4937760"/>
            <a:ext cx="3637178" cy="1005840"/>
          </a:xfrm>
          <a:prstGeom prst="rect">
            <a:avLst/>
          </a:prstGeom>
          <a:noFill/>
        </p:spPr>
        <p:txBody>
          <a:bodyPr wrap="square" anchor="t" lIns="0" rIns="0" tIns="0" bIns="0">
            <a:noAutofit/>
          </a:bodyPr>
          <a:lstStyle/>
          <a:p>
            <a:pPr algn="l">
              <a:lnSpc>
                <a:spcPct val="115000"/>
              </a:lnSpc>
            </a:pPr>
            <a:r>
              <a:rPr sz="1500" b="0" i="0">
                <a:solidFill>
                  <a:srgbClr val="567F8D"/>
                </a:solidFill>
                <a:latin typeface="Roboto"/>
              </a:rPr>
              <a:t>Images of documents are read with OCR, so they are searchable too.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ANYONE CAN QUESTION THE DATABASE IN PLAIN ENGLISH</a:t>
            </a:r>
          </a:p>
        </p:txBody>
      </p:sp>
      <p:sp>
        <p:nvSpPr>
          <p:cNvPr id="4" name="mbl:panel:1" descr="{&quot;mbl&quot;: 1, &quot;c&quot;: &quot;panel&quot;, &quot;i&quot;: 1}"/>
          <p:cNvSpPr/>
          <p:nvPr/>
        </p:nvSpPr>
        <p:spPr>
          <a:xfrm>
            <a:off x="365760" y="1417320"/>
            <a:ext cx="3840480" cy="4572000"/>
          </a:xfrm>
          <a:prstGeom prst="roundRect">
            <a:avLst>
              <a:gd name="adj" fmla="val 1497"/>
            </a:avLst>
          </a:prstGeom>
          <a:solidFill>
            <a:srgbClr val="1E3D4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5" name="mbl:txt:1" descr="{&quot;mbl&quot;: 1, &quot;c&quot;: &quot;txt&quot;, &quot;i&quot;: 1}"/>
          <p:cNvSpPr txBox="1"/>
          <p:nvPr/>
        </p:nvSpPr>
        <p:spPr>
          <a:xfrm>
            <a:off x="731520" y="1783080"/>
            <a:ext cx="3108960" cy="274320"/>
          </a:xfrm>
          <a:prstGeom prst="rect">
            <a:avLst/>
          </a:prstGeom>
          <a:noFill/>
        </p:spPr>
        <p:txBody>
          <a:bodyPr wrap="square" anchor="t" lIns="0" rIns="0" tIns="0" bIns="0">
            <a:noAutofit/>
          </a:bodyPr>
          <a:lstStyle/>
          <a:p>
            <a:pPr algn="l">
              <a:lnSpc>
                <a:spcPct val="100000"/>
              </a:lnSpc>
            </a:pPr>
            <a:r>
              <a:rPr sz="1200" b="1" i="0">
                <a:solidFill>
                  <a:srgbClr val="A8C2CA"/>
                </a:solidFill>
                <a:latin typeface="Roboto Condensed"/>
              </a:rPr>
              <a:t>USE CASE</a:t>
            </a:r>
          </a:p>
        </p:txBody>
      </p:sp>
      <p:sp>
        <p:nvSpPr>
          <p:cNvPr id="6" name="mbl:txt:2" descr="{&quot;mbl&quot;: 1, &quot;c&quot;: &quot;txt&quot;, &quot;i&quot;: 2}"/>
          <p:cNvSpPr txBox="1"/>
          <p:nvPr/>
        </p:nvSpPr>
        <p:spPr>
          <a:xfrm>
            <a:off x="731520" y="2194560"/>
            <a:ext cx="3108960" cy="2194560"/>
          </a:xfrm>
          <a:prstGeom prst="rect">
            <a:avLst/>
          </a:prstGeom>
          <a:noFill/>
        </p:spPr>
        <p:txBody>
          <a:bodyPr wrap="square" anchor="t" lIns="0" rIns="0" tIns="0" bIns="0">
            <a:noAutofit/>
          </a:bodyPr>
          <a:lstStyle/>
          <a:p>
            <a:pPr algn="l">
              <a:lnSpc>
                <a:spcPct val="105000"/>
              </a:lnSpc>
            </a:pPr>
            <a:r>
              <a:rPr sz="3000" b="1" i="0">
                <a:solidFill>
                  <a:srgbClr val="FFFFFF"/>
                </a:solidFill>
                <a:latin typeface="Roboto Condensed"/>
              </a:rPr>
              <a:t>“Which customers ordered twice last month?”</a:t>
            </a:r>
          </a:p>
        </p:txBody>
      </p:sp>
      <p:sp>
        <p:nvSpPr>
          <p:cNvPr id="7" name="mbl:txt:3" descr="{&quot;mbl&quot;: 1, &quot;c&quot;: &quot;txt&quot;, &quot;i&quot;: 3}"/>
          <p:cNvSpPr txBox="1"/>
          <p:nvPr/>
        </p:nvSpPr>
        <p:spPr>
          <a:xfrm>
            <a:off x="731520" y="4480560"/>
            <a:ext cx="3108960" cy="1371600"/>
          </a:xfrm>
          <a:prstGeom prst="rect">
            <a:avLst/>
          </a:prstGeom>
          <a:noFill/>
        </p:spPr>
        <p:txBody>
          <a:bodyPr wrap="square" anchor="t" lIns="0" rIns="0" tIns="0" bIns="0">
            <a:noAutofit/>
          </a:bodyPr>
          <a:lstStyle/>
          <a:p>
            <a:pPr algn="l">
              <a:lnSpc>
                <a:spcPct val="115000"/>
              </a:lnSpc>
            </a:pPr>
            <a:r>
              <a:rPr sz="1500" b="0" i="0">
                <a:solidFill>
                  <a:srgbClr val="A8C2CA"/>
                </a:solidFill>
                <a:latin typeface="Roboto"/>
              </a:rPr>
              <a:t>An assistant can turn a question like this into a database query, once it knows what the tables mean.</a:t>
            </a:r>
          </a:p>
        </p:txBody>
      </p:sp>
      <p:sp>
        <p:nvSpPr>
          <p:cNvPr id="8" name="mbl:txt:4" descr="{&quot;mbl&quot;: 1, &quot;c&quot;: &quot;txt&quot;, &quot;i&quot;: 4}"/>
          <p:cNvSpPr txBox="1"/>
          <p:nvPr/>
        </p:nvSpPr>
        <p:spPr>
          <a:xfrm>
            <a:off x="4572000" y="1463040"/>
            <a:ext cx="3474720" cy="320040"/>
          </a:xfrm>
          <a:prstGeom prst="rect">
            <a:avLst/>
          </a:prstGeom>
          <a:noFill/>
        </p:spPr>
        <p:txBody>
          <a:bodyPr wrap="square" anchor="t" lIns="0" rIns="0" tIns="0" bIns="0">
            <a:noAutofit/>
          </a:bodyPr>
          <a:lstStyle/>
          <a:p>
            <a:pPr algn="l">
              <a:lnSpc>
                <a:spcPct val="100000"/>
              </a:lnSpc>
            </a:pPr>
            <a:r>
              <a:rPr sz="1800" b="1" i="0">
                <a:solidFill>
                  <a:srgbClr val="28495A"/>
                </a:solidFill>
                <a:latin typeface="Roboto Condensed"/>
              </a:rPr>
              <a:t>THE RIGHT DATA</a:t>
            </a:r>
          </a:p>
        </p:txBody>
      </p:sp>
      <p:sp>
        <p:nvSpPr>
          <p:cNvPr id="9" name="mbl:txt:5" descr="{&quot;mbl&quot;: 1, &quot;c&quot;: &quot;txt&quot;, &quot;i&quot;: 5}"/>
          <p:cNvSpPr txBox="1"/>
          <p:nvPr/>
        </p:nvSpPr>
        <p:spPr>
          <a:xfrm>
            <a:off x="4572000" y="1920240"/>
            <a:ext cx="3474720" cy="1188720"/>
          </a:xfrm>
          <a:prstGeom prst="rect">
            <a:avLst/>
          </a:prstGeom>
          <a:noFill/>
        </p:spPr>
        <p:txBody>
          <a:bodyPr wrap="square" anchor="t" lIns="0" rIns="0" tIns="0" bIns="0">
            <a:noAutofit/>
          </a:bodyPr>
          <a:lstStyle/>
          <a:p>
            <a:pPr algn="l">
              <a:lnSpc>
                <a:spcPct val="112000"/>
              </a:lnSpc>
            </a:pPr>
            <a:r>
              <a:rPr sz="1500" b="0" i="0">
                <a:solidFill>
                  <a:srgbClr val="567F8D"/>
                </a:solidFill>
                <a:latin typeface="Roboto"/>
              </a:rPr>
              <a:t>Finds the tables and columns that match the words in the question.</a:t>
            </a:r>
          </a:p>
        </p:txBody>
      </p:sp>
      <p:sp>
        <p:nvSpPr>
          <p:cNvPr id="10" name="mbl:runs:1" descr="{&quot;mbl&quot;: 1, &quot;c&quot;: &quot;runs&quot;, &quot;i&quot;: 1}"/>
          <p:cNvSpPr txBox="1"/>
          <p:nvPr/>
        </p:nvSpPr>
        <p:spPr>
          <a:xfrm>
            <a:off x="4572000" y="3246120"/>
            <a:ext cx="3474720" cy="274320"/>
          </a:xfrm>
          <a:prstGeom prst="rect">
            <a:avLst/>
          </a:prstGeom>
          <a:noFill/>
        </p:spPr>
        <p:txBody>
          <a:bodyPr wrap="square" anchor="t" lIns="0" rIns="0" tIns="0" bIns="0">
            <a:noAutofit/>
          </a:bodyPr>
          <a:lstStyle/>
          <a:p>
            <a:pPr algn="l">
              <a:lnSpc>
                <a:spcPct val="100000"/>
              </a:lnSpc>
            </a:pPr>
            <a:r>
              <a:rPr sz="1100" b="1">
                <a:solidFill>
                  <a:srgbClr val="567F8D"/>
                </a:solidFill>
                <a:latin typeface="Roboto Condensed"/>
              </a:rPr>
              <a:t>BENEFIT  </a:t>
            </a:r>
            <a:r>
              <a:rPr sz="1300" b="1">
                <a:solidFill>
                  <a:srgbClr val="28495A"/>
                </a:solidFill>
                <a:latin typeface="Roboto"/>
              </a:rPr>
              <a:t>Fewer wrong answers</a:t>
            </a:r>
          </a:p>
        </p:txBody>
      </p:sp>
      <p:sp>
        <p:nvSpPr>
          <p:cNvPr id="11" name="mbl:txt:6" descr="{&quot;mbl&quot;: 1, &quot;c&quot;: &quot;txt&quot;, &quot;i&quot;: 6}"/>
          <p:cNvSpPr txBox="1"/>
          <p:nvPr/>
        </p:nvSpPr>
        <p:spPr>
          <a:xfrm>
            <a:off x="8348471" y="1463040"/>
            <a:ext cx="3474720" cy="320040"/>
          </a:xfrm>
          <a:prstGeom prst="rect">
            <a:avLst/>
          </a:prstGeom>
          <a:noFill/>
        </p:spPr>
        <p:txBody>
          <a:bodyPr wrap="square" anchor="t" lIns="0" rIns="0" tIns="0" bIns="0">
            <a:noAutofit/>
          </a:bodyPr>
          <a:lstStyle/>
          <a:p>
            <a:pPr algn="l">
              <a:lnSpc>
                <a:spcPct val="100000"/>
              </a:lnSpc>
            </a:pPr>
            <a:r>
              <a:rPr sz="1800" b="1" i="0">
                <a:solidFill>
                  <a:srgbClr val="28495A"/>
                </a:solidFill>
                <a:latin typeface="Roboto Condensed"/>
              </a:rPr>
              <a:t>JOINED CORRECTLY</a:t>
            </a:r>
          </a:p>
        </p:txBody>
      </p:sp>
      <p:sp>
        <p:nvSpPr>
          <p:cNvPr id="12" name="mbl:txt:7" descr="{&quot;mbl&quot;: 1, &quot;c&quot;: &quot;txt&quot;, &quot;i&quot;: 7}"/>
          <p:cNvSpPr txBox="1"/>
          <p:nvPr/>
        </p:nvSpPr>
        <p:spPr>
          <a:xfrm>
            <a:off x="8348471" y="1920240"/>
            <a:ext cx="3474720" cy="1188720"/>
          </a:xfrm>
          <a:prstGeom prst="rect">
            <a:avLst/>
          </a:prstGeom>
          <a:noFill/>
        </p:spPr>
        <p:txBody>
          <a:bodyPr wrap="square" anchor="t" lIns="0" rIns="0" tIns="0" bIns="0">
            <a:noAutofit/>
          </a:bodyPr>
          <a:lstStyle/>
          <a:p>
            <a:pPr algn="l">
              <a:lnSpc>
                <a:spcPct val="112000"/>
              </a:lnSpc>
            </a:pPr>
            <a:r>
              <a:rPr sz="1500" b="0" i="0">
                <a:solidFill>
                  <a:srgbClr val="567F8D"/>
                </a:solidFill>
                <a:latin typeface="Roboto"/>
              </a:rPr>
              <a:t>Knows which tables link, so customers and orders are combined properly.</a:t>
            </a:r>
          </a:p>
        </p:txBody>
      </p:sp>
      <p:sp>
        <p:nvSpPr>
          <p:cNvPr id="13" name="mbl:runs:2" descr="{&quot;mbl&quot;: 1, &quot;c&quot;: &quot;runs&quot;, &quot;i&quot;: 2}"/>
          <p:cNvSpPr txBox="1"/>
          <p:nvPr/>
        </p:nvSpPr>
        <p:spPr>
          <a:xfrm>
            <a:off x="8348471" y="3246120"/>
            <a:ext cx="3474720" cy="274320"/>
          </a:xfrm>
          <a:prstGeom prst="rect">
            <a:avLst/>
          </a:prstGeom>
          <a:noFill/>
        </p:spPr>
        <p:txBody>
          <a:bodyPr wrap="square" anchor="t" lIns="0" rIns="0" tIns="0" bIns="0">
            <a:noAutofit/>
          </a:bodyPr>
          <a:lstStyle/>
          <a:p>
            <a:pPr algn="l">
              <a:lnSpc>
                <a:spcPct val="100000"/>
              </a:lnSpc>
            </a:pPr>
            <a:r>
              <a:rPr sz="1100" b="1">
                <a:solidFill>
                  <a:srgbClr val="567F8D"/>
                </a:solidFill>
                <a:latin typeface="Roboto Condensed"/>
              </a:rPr>
              <a:t>BENEFIT  </a:t>
            </a:r>
            <a:r>
              <a:rPr sz="1300" b="1">
                <a:solidFill>
                  <a:srgbClr val="28495A"/>
                </a:solidFill>
                <a:latin typeface="Roboto"/>
              </a:rPr>
              <a:t>Numbers you can trust</a:t>
            </a:r>
          </a:p>
        </p:txBody>
      </p:sp>
      <p:sp>
        <p:nvSpPr>
          <p:cNvPr id="14" name="mbl:txt:8" descr="{&quot;mbl&quot;: 1, &quot;c&quot;: &quot;txt&quot;, &quot;i&quot;: 8}"/>
          <p:cNvSpPr txBox="1"/>
          <p:nvPr/>
        </p:nvSpPr>
        <p:spPr>
          <a:xfrm>
            <a:off x="4572000" y="3977639"/>
            <a:ext cx="3474720" cy="320040"/>
          </a:xfrm>
          <a:prstGeom prst="rect">
            <a:avLst/>
          </a:prstGeom>
          <a:noFill/>
        </p:spPr>
        <p:txBody>
          <a:bodyPr wrap="square" anchor="t" lIns="0" rIns="0" tIns="0" bIns="0">
            <a:noAutofit/>
          </a:bodyPr>
          <a:lstStyle/>
          <a:p>
            <a:pPr algn="l">
              <a:lnSpc>
                <a:spcPct val="100000"/>
              </a:lnSpc>
            </a:pPr>
            <a:r>
              <a:rPr sz="1800" b="1" i="0">
                <a:solidFill>
                  <a:srgbClr val="28495A"/>
                </a:solidFill>
                <a:latin typeface="Roboto Condensed"/>
              </a:rPr>
              <a:t>TRUSTED QUERIES</a:t>
            </a:r>
          </a:p>
        </p:txBody>
      </p:sp>
      <p:sp>
        <p:nvSpPr>
          <p:cNvPr id="15" name="mbl:txt:9" descr="{&quot;mbl&quot;: 1, &quot;c&quot;: &quot;txt&quot;, &quot;i&quot;: 9}"/>
          <p:cNvSpPr txBox="1"/>
          <p:nvPr/>
        </p:nvSpPr>
        <p:spPr>
          <a:xfrm>
            <a:off x="4572000" y="4434840"/>
            <a:ext cx="3474720" cy="1188720"/>
          </a:xfrm>
          <a:prstGeom prst="rect">
            <a:avLst/>
          </a:prstGeom>
          <a:noFill/>
        </p:spPr>
        <p:txBody>
          <a:bodyPr wrap="square" anchor="t" lIns="0" rIns="0" tIns="0" bIns="0">
            <a:noAutofit/>
          </a:bodyPr>
          <a:lstStyle/>
          <a:p>
            <a:pPr algn="l">
              <a:lnSpc>
                <a:spcPct val="112000"/>
              </a:lnSpc>
            </a:pPr>
            <a:r>
              <a:rPr sz="1500" b="0" i="0">
                <a:solidFill>
                  <a:srgbClr val="567F8D"/>
                </a:solidFill>
                <a:latin typeface="Roboto"/>
              </a:rPr>
              <a:t>Teams save approved queries by name, and assistants reuse them.</a:t>
            </a:r>
          </a:p>
        </p:txBody>
      </p:sp>
      <p:sp>
        <p:nvSpPr>
          <p:cNvPr id="16" name="mbl:runs:3" descr="{&quot;mbl&quot;: 1, &quot;c&quot;: &quot;runs&quot;, &quot;i&quot;: 3}"/>
          <p:cNvSpPr txBox="1"/>
          <p:nvPr/>
        </p:nvSpPr>
        <p:spPr>
          <a:xfrm>
            <a:off x="4572000" y="5760720"/>
            <a:ext cx="3474720" cy="274320"/>
          </a:xfrm>
          <a:prstGeom prst="rect">
            <a:avLst/>
          </a:prstGeom>
          <a:noFill/>
        </p:spPr>
        <p:txBody>
          <a:bodyPr wrap="square" anchor="t" lIns="0" rIns="0" tIns="0" bIns="0">
            <a:noAutofit/>
          </a:bodyPr>
          <a:lstStyle/>
          <a:p>
            <a:pPr algn="l">
              <a:lnSpc>
                <a:spcPct val="100000"/>
              </a:lnSpc>
            </a:pPr>
            <a:r>
              <a:rPr sz="1100" b="1">
                <a:solidFill>
                  <a:srgbClr val="567F8D"/>
                </a:solidFill>
                <a:latin typeface="Roboto Condensed"/>
              </a:rPr>
              <a:t>BENEFIT  </a:t>
            </a:r>
            <a:r>
              <a:rPr sz="1300" b="1">
                <a:solidFill>
                  <a:srgbClr val="28495A"/>
                </a:solidFill>
                <a:latin typeface="Roboto"/>
              </a:rPr>
              <a:t>Consistent results</a:t>
            </a:r>
          </a:p>
        </p:txBody>
      </p:sp>
      <p:sp>
        <p:nvSpPr>
          <p:cNvPr id="17" name="mbl:txt:10" descr="{&quot;mbl&quot;: 1, &quot;c&quot;: &quot;txt&quot;, &quot;i&quot;: 10}"/>
          <p:cNvSpPr txBox="1"/>
          <p:nvPr/>
        </p:nvSpPr>
        <p:spPr>
          <a:xfrm>
            <a:off x="8348471" y="3977639"/>
            <a:ext cx="3474720" cy="320040"/>
          </a:xfrm>
          <a:prstGeom prst="rect">
            <a:avLst/>
          </a:prstGeom>
          <a:noFill/>
        </p:spPr>
        <p:txBody>
          <a:bodyPr wrap="square" anchor="t" lIns="0" rIns="0" tIns="0" bIns="0">
            <a:noAutofit/>
          </a:bodyPr>
          <a:lstStyle/>
          <a:p>
            <a:pPr algn="l">
              <a:lnSpc>
                <a:spcPct val="100000"/>
              </a:lnSpc>
            </a:pPr>
            <a:r>
              <a:rPr sz="1800" b="1" i="0">
                <a:solidFill>
                  <a:srgbClr val="28495A"/>
                </a:solidFill>
                <a:latin typeface="Roboto Condensed"/>
              </a:rPr>
              <a:t>LEARNS FROM USE</a:t>
            </a:r>
          </a:p>
        </p:txBody>
      </p:sp>
      <p:sp>
        <p:nvSpPr>
          <p:cNvPr id="18" name="mbl:txt:11" descr="{&quot;mbl&quot;: 1, &quot;c&quot;: &quot;txt&quot;, &quot;i&quot;: 11}"/>
          <p:cNvSpPr txBox="1"/>
          <p:nvPr/>
        </p:nvSpPr>
        <p:spPr>
          <a:xfrm>
            <a:off x="8348471" y="4434840"/>
            <a:ext cx="3474720" cy="1188720"/>
          </a:xfrm>
          <a:prstGeom prst="rect">
            <a:avLst/>
          </a:prstGeom>
          <a:noFill/>
        </p:spPr>
        <p:txBody>
          <a:bodyPr wrap="square" anchor="t" lIns="0" rIns="0" tIns="0" bIns="0">
            <a:noAutofit/>
          </a:bodyPr>
          <a:lstStyle/>
          <a:p>
            <a:pPr algn="l">
              <a:lnSpc>
                <a:spcPct val="112000"/>
              </a:lnSpc>
            </a:pPr>
            <a:r>
              <a:rPr sz="1500" b="0" i="0">
                <a:solidFill>
                  <a:srgbClr val="567F8D"/>
                </a:solidFill>
                <a:latin typeface="Roboto"/>
              </a:rPr>
              <a:t>Picks up links from queries people already run. Someone reviews them first.</a:t>
            </a:r>
          </a:p>
        </p:txBody>
      </p:sp>
      <p:sp>
        <p:nvSpPr>
          <p:cNvPr id="19" name="mbl:runs:4" descr="{&quot;mbl&quot;: 1, &quot;c&quot;: &quot;runs&quot;, &quot;i&quot;: 4}"/>
          <p:cNvSpPr txBox="1"/>
          <p:nvPr/>
        </p:nvSpPr>
        <p:spPr>
          <a:xfrm>
            <a:off x="8348471" y="5760720"/>
            <a:ext cx="3474720" cy="274320"/>
          </a:xfrm>
          <a:prstGeom prst="rect">
            <a:avLst/>
          </a:prstGeom>
          <a:noFill/>
        </p:spPr>
        <p:txBody>
          <a:bodyPr wrap="square" anchor="t" lIns="0" rIns="0" tIns="0" bIns="0">
            <a:noAutofit/>
          </a:bodyPr>
          <a:lstStyle/>
          <a:p>
            <a:pPr algn="l">
              <a:lnSpc>
                <a:spcPct val="100000"/>
              </a:lnSpc>
            </a:pPr>
            <a:r>
              <a:rPr sz="1100" b="1">
                <a:solidFill>
                  <a:srgbClr val="567F8D"/>
                </a:solidFill>
                <a:latin typeface="Roboto Condensed"/>
              </a:rPr>
              <a:t>BENEFIT  </a:t>
            </a:r>
            <a:r>
              <a:rPr sz="1300" b="1">
                <a:solidFill>
                  <a:srgbClr val="28495A"/>
                </a:solidFill>
                <a:latin typeface="Roboto"/>
              </a:rPr>
              <a:t>Less manual setup</a:t>
            </a:r>
          </a:p>
        </p:txBody>
      </p:sp>
      <p:cxnSp>
        <p:nvCxnSpPr>
          <p:cNvPr id="20" name="mbl:vrule:1" descr="{&quot;mbl&quot;: 1, &quot;c&quot;: &quot;vrule&quot;, &quot;i&quot;: 1}"/>
          <p:cNvCxnSpPr/>
          <p:nvPr/>
        </p:nvCxnSpPr>
        <p:spPr>
          <a:xfrm>
            <a:off x="8197596" y="1417320"/>
            <a:ext cx="0" cy="457200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cxnSp>
        <p:nvCxnSpPr>
          <p:cNvPr id="21" name="mbl:hrule:1" descr="{&quot;mbl&quot;: 1, &quot;c&quot;: &quot;hrule&quot;, &quot;i&quot;: 1}"/>
          <p:cNvCxnSpPr/>
          <p:nvPr/>
        </p:nvCxnSpPr>
        <p:spPr>
          <a:xfrm>
            <a:off x="4572000" y="3703320"/>
            <a:ext cx="7251192"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ASSISTANTS WORK THROUGH A TASK, WITHIN LIMITS</a:t>
            </a:r>
          </a:p>
        </p:txBody>
      </p:sp>
      <p:sp>
        <p:nvSpPr>
          <p:cNvPr id="4" name="mbl:subtitle:1" descr="{&quot;mbl&quot;: 1, &quot;c&quot;: &quot;subtitle&quot;, &quot;i&quot;: 1}"/>
          <p:cNvSpPr txBox="1"/>
          <p:nvPr/>
        </p:nvSpPr>
        <p:spPr>
          <a:xfrm>
            <a:off x="365760" y="896112"/>
            <a:ext cx="11277295" cy="237744"/>
          </a:xfrm>
          <a:prstGeom prst="rect">
            <a:avLst/>
          </a:prstGeom>
          <a:noFill/>
        </p:spPr>
        <p:txBody>
          <a:bodyPr wrap="square" anchor="t" lIns="0" rIns="0" tIns="0" bIns="0">
            <a:noAutofit/>
          </a:bodyPr>
          <a:lstStyle/>
          <a:p>
            <a:pPr algn="l">
              <a:lnSpc>
                <a:spcPct val="100000"/>
              </a:lnSpc>
            </a:pPr>
            <a:r>
              <a:rPr sz="1300" b="0" i="0">
                <a:solidFill>
                  <a:srgbClr val="567F8D"/>
                </a:solidFill>
                <a:latin typeface="Roboto"/>
              </a:rPr>
              <a:t>Example: finding which customer renewals are at risk this month.</a:t>
            </a:r>
          </a:p>
        </p:txBody>
      </p:sp>
      <p:sp>
        <p:nvSpPr>
          <p:cNvPr id="5" name="mbl:txt:1" descr="{&quot;mbl&quot;: 1, &quot;c&quot;: &quot;txt&quot;, &quot;i&quot;: 1}"/>
          <p:cNvSpPr txBox="1"/>
          <p:nvPr/>
        </p:nvSpPr>
        <p:spPr>
          <a:xfrm>
            <a:off x="365760" y="1554480"/>
            <a:ext cx="2659303" cy="822960"/>
          </a:xfrm>
          <a:prstGeom prst="rect">
            <a:avLst/>
          </a:prstGeom>
          <a:noFill/>
        </p:spPr>
        <p:txBody>
          <a:bodyPr wrap="square" anchor="b" lIns="0" rIns="0" tIns="0" bIns="0">
            <a:noAutofit/>
          </a:bodyPr>
          <a:lstStyle/>
          <a:p>
            <a:pPr algn="l">
              <a:lnSpc>
                <a:spcPct val="100000"/>
              </a:lnSpc>
            </a:pPr>
            <a:r>
              <a:rPr sz="5400" b="1" i="0">
                <a:solidFill>
                  <a:srgbClr val="28495A"/>
                </a:solidFill>
                <a:latin typeface="Roboto Condensed"/>
              </a:rPr>
              <a:t>01</a:t>
            </a:r>
          </a:p>
        </p:txBody>
      </p:sp>
      <p:sp>
        <p:nvSpPr>
          <p:cNvPr id="6" name="mbl:txt:2" descr="{&quot;mbl&quot;: 1, &quot;c&quot;: &quot;txt&quot;, &quot;i&quot;: 2}"/>
          <p:cNvSpPr txBox="1"/>
          <p:nvPr/>
        </p:nvSpPr>
        <p:spPr>
          <a:xfrm>
            <a:off x="365760" y="2560320"/>
            <a:ext cx="2659303" cy="365760"/>
          </a:xfrm>
          <a:prstGeom prst="rect">
            <a:avLst/>
          </a:prstGeom>
          <a:noFill/>
        </p:spPr>
        <p:txBody>
          <a:bodyPr wrap="square" anchor="t" lIns="0" rIns="0" tIns="0" bIns="0">
            <a:noAutofit/>
          </a:bodyPr>
          <a:lstStyle/>
          <a:p>
            <a:pPr algn="l">
              <a:lnSpc>
                <a:spcPct val="100000"/>
              </a:lnSpc>
            </a:pPr>
            <a:r>
              <a:rPr sz="1900" b="1" i="0">
                <a:solidFill>
                  <a:srgbClr val="28495A"/>
                </a:solidFill>
                <a:latin typeface="Roboto Condensed"/>
              </a:rPr>
              <a:t>UNDERSTAND</a:t>
            </a:r>
          </a:p>
        </p:txBody>
      </p:sp>
      <p:sp>
        <p:nvSpPr>
          <p:cNvPr id="7" name="mbl:txt:3" descr="{&quot;mbl&quot;: 1, &quot;c&quot;: &quot;txt&quot;, &quot;i&quot;: 3}"/>
          <p:cNvSpPr txBox="1"/>
          <p:nvPr/>
        </p:nvSpPr>
        <p:spPr>
          <a:xfrm>
            <a:off x="365760" y="3017520"/>
            <a:ext cx="2659303" cy="1463040"/>
          </a:xfrm>
          <a:prstGeom prst="rect">
            <a:avLst/>
          </a:prstGeom>
          <a:noFill/>
        </p:spPr>
        <p:txBody>
          <a:bodyPr wrap="square" anchor="t" lIns="0" rIns="0" tIns="0" bIns="0">
            <a:noAutofit/>
          </a:bodyPr>
          <a:lstStyle/>
          <a:p>
            <a:pPr algn="l">
              <a:lnSpc>
                <a:spcPct val="115000"/>
              </a:lnSpc>
            </a:pPr>
            <a:r>
              <a:rPr sz="1600" b="0" i="0">
                <a:solidFill>
                  <a:srgbClr val="567F8D"/>
                </a:solidFill>
                <a:latin typeface="Roboto"/>
              </a:rPr>
              <a:t>The assistant reads the request and decides what it needs to find out.</a:t>
            </a:r>
          </a:p>
        </p:txBody>
      </p:sp>
      <p:sp>
        <p:nvSpPr>
          <p:cNvPr id="8" name="mbl:txt:4" descr="{&quot;mbl&quot;: 1, &quot;c&quot;: &quot;txt&quot;, &quot;i&quot;: 4}"/>
          <p:cNvSpPr txBox="1"/>
          <p:nvPr/>
        </p:nvSpPr>
        <p:spPr>
          <a:xfrm>
            <a:off x="3299383" y="1554480"/>
            <a:ext cx="2659303" cy="822960"/>
          </a:xfrm>
          <a:prstGeom prst="rect">
            <a:avLst/>
          </a:prstGeom>
          <a:noFill/>
        </p:spPr>
        <p:txBody>
          <a:bodyPr wrap="square" anchor="b" lIns="0" rIns="0" tIns="0" bIns="0">
            <a:noAutofit/>
          </a:bodyPr>
          <a:lstStyle/>
          <a:p>
            <a:pPr algn="l">
              <a:lnSpc>
                <a:spcPct val="100000"/>
              </a:lnSpc>
            </a:pPr>
            <a:r>
              <a:rPr sz="5400" b="1" i="0">
                <a:solidFill>
                  <a:srgbClr val="28495A"/>
                </a:solidFill>
                <a:latin typeface="Roboto Condensed"/>
              </a:rPr>
              <a:t>02</a:t>
            </a:r>
          </a:p>
        </p:txBody>
      </p:sp>
      <p:sp>
        <p:nvSpPr>
          <p:cNvPr id="9" name="mbl:txt:5" descr="{&quot;mbl&quot;: 1, &quot;c&quot;: &quot;txt&quot;, &quot;i&quot;: 5}"/>
          <p:cNvSpPr txBox="1"/>
          <p:nvPr/>
        </p:nvSpPr>
        <p:spPr>
          <a:xfrm>
            <a:off x="3299383" y="2560320"/>
            <a:ext cx="2659303" cy="365760"/>
          </a:xfrm>
          <a:prstGeom prst="rect">
            <a:avLst/>
          </a:prstGeom>
          <a:noFill/>
        </p:spPr>
        <p:txBody>
          <a:bodyPr wrap="square" anchor="t" lIns="0" rIns="0" tIns="0" bIns="0">
            <a:noAutofit/>
          </a:bodyPr>
          <a:lstStyle/>
          <a:p>
            <a:pPr algn="l">
              <a:lnSpc>
                <a:spcPct val="100000"/>
              </a:lnSpc>
            </a:pPr>
            <a:r>
              <a:rPr sz="1900" b="1" i="0">
                <a:solidFill>
                  <a:srgbClr val="28495A"/>
                </a:solidFill>
                <a:latin typeface="Roboto Condensed"/>
              </a:rPr>
              <a:t>USE A TOOL</a:t>
            </a:r>
          </a:p>
        </p:txBody>
      </p:sp>
      <p:sp>
        <p:nvSpPr>
          <p:cNvPr id="10" name="mbl:txt:6" descr="{&quot;mbl&quot;: 1, &quot;c&quot;: &quot;txt&quot;, &quot;i&quot;: 6}"/>
          <p:cNvSpPr txBox="1"/>
          <p:nvPr/>
        </p:nvSpPr>
        <p:spPr>
          <a:xfrm>
            <a:off x="3299383" y="3017520"/>
            <a:ext cx="2659303" cy="1463040"/>
          </a:xfrm>
          <a:prstGeom prst="rect">
            <a:avLst/>
          </a:prstGeom>
          <a:noFill/>
        </p:spPr>
        <p:txBody>
          <a:bodyPr wrap="square" anchor="t" lIns="0" rIns="0" tIns="0" bIns="0">
            <a:noAutofit/>
          </a:bodyPr>
          <a:lstStyle/>
          <a:p>
            <a:pPr algn="l">
              <a:lnSpc>
                <a:spcPct val="115000"/>
              </a:lnSpc>
            </a:pPr>
            <a:r>
              <a:rPr sz="1600" b="0" i="0">
                <a:solidFill>
                  <a:srgbClr val="567F8D"/>
                </a:solidFill>
                <a:latin typeface="Roboto"/>
              </a:rPr>
              <a:t>It searches documents, runs an approved query or calls another system.</a:t>
            </a:r>
          </a:p>
        </p:txBody>
      </p:sp>
      <p:sp>
        <p:nvSpPr>
          <p:cNvPr id="11" name="mbl:txt:7" descr="{&quot;mbl&quot;: 1, &quot;c&quot;: &quot;txt&quot;, &quot;i&quot;: 7}"/>
          <p:cNvSpPr txBox="1"/>
          <p:nvPr/>
        </p:nvSpPr>
        <p:spPr>
          <a:xfrm>
            <a:off x="6233007" y="1554480"/>
            <a:ext cx="2659303" cy="822960"/>
          </a:xfrm>
          <a:prstGeom prst="rect">
            <a:avLst/>
          </a:prstGeom>
          <a:noFill/>
        </p:spPr>
        <p:txBody>
          <a:bodyPr wrap="square" anchor="b" lIns="0" rIns="0" tIns="0" bIns="0">
            <a:noAutofit/>
          </a:bodyPr>
          <a:lstStyle/>
          <a:p>
            <a:pPr algn="l">
              <a:lnSpc>
                <a:spcPct val="100000"/>
              </a:lnSpc>
            </a:pPr>
            <a:r>
              <a:rPr sz="5400" b="1" i="0">
                <a:solidFill>
                  <a:srgbClr val="28495A"/>
                </a:solidFill>
                <a:latin typeface="Roboto Condensed"/>
              </a:rPr>
              <a:t>03</a:t>
            </a:r>
          </a:p>
        </p:txBody>
      </p:sp>
      <p:sp>
        <p:nvSpPr>
          <p:cNvPr id="12" name="mbl:txt:8" descr="{&quot;mbl&quot;: 1, &quot;c&quot;: &quot;txt&quot;, &quot;i&quot;: 8}"/>
          <p:cNvSpPr txBox="1"/>
          <p:nvPr/>
        </p:nvSpPr>
        <p:spPr>
          <a:xfrm>
            <a:off x="6233007" y="2560320"/>
            <a:ext cx="2659303" cy="365760"/>
          </a:xfrm>
          <a:prstGeom prst="rect">
            <a:avLst/>
          </a:prstGeom>
          <a:noFill/>
        </p:spPr>
        <p:txBody>
          <a:bodyPr wrap="square" anchor="t" lIns="0" rIns="0" tIns="0" bIns="0">
            <a:noAutofit/>
          </a:bodyPr>
          <a:lstStyle/>
          <a:p>
            <a:pPr algn="l">
              <a:lnSpc>
                <a:spcPct val="100000"/>
              </a:lnSpc>
            </a:pPr>
            <a:r>
              <a:rPr sz="1900" b="1" i="0">
                <a:solidFill>
                  <a:srgbClr val="28495A"/>
                </a:solidFill>
                <a:latin typeface="Roboto Condensed"/>
              </a:rPr>
              <a:t>CHECK</a:t>
            </a:r>
          </a:p>
        </p:txBody>
      </p:sp>
      <p:sp>
        <p:nvSpPr>
          <p:cNvPr id="13" name="mbl:txt:9" descr="{&quot;mbl&quot;: 1, &quot;c&quot;: &quot;txt&quot;, &quot;i&quot;: 9}"/>
          <p:cNvSpPr txBox="1"/>
          <p:nvPr/>
        </p:nvSpPr>
        <p:spPr>
          <a:xfrm>
            <a:off x="6233007" y="3017520"/>
            <a:ext cx="2659303" cy="1463040"/>
          </a:xfrm>
          <a:prstGeom prst="rect">
            <a:avLst/>
          </a:prstGeom>
          <a:noFill/>
        </p:spPr>
        <p:txBody>
          <a:bodyPr wrap="square" anchor="t" lIns="0" rIns="0" tIns="0" bIns="0">
            <a:noAutofit/>
          </a:bodyPr>
          <a:lstStyle/>
          <a:p>
            <a:pPr algn="l">
              <a:lnSpc>
                <a:spcPct val="115000"/>
              </a:lnSpc>
            </a:pPr>
            <a:r>
              <a:rPr sz="1600" b="0" i="0">
                <a:solidFill>
                  <a:srgbClr val="567F8D"/>
                </a:solidFill>
                <a:latin typeface="Roboto"/>
              </a:rPr>
              <a:t>It reads what came back and decides whether that is enough.</a:t>
            </a:r>
          </a:p>
        </p:txBody>
      </p:sp>
      <p:sp>
        <p:nvSpPr>
          <p:cNvPr id="14" name="mbl:txt:10" descr="{&quot;mbl&quot;: 1, &quot;c&quot;: &quot;txt&quot;, &quot;i&quot;: 10}"/>
          <p:cNvSpPr txBox="1"/>
          <p:nvPr/>
        </p:nvSpPr>
        <p:spPr>
          <a:xfrm>
            <a:off x="9166631" y="1554480"/>
            <a:ext cx="2659303" cy="822960"/>
          </a:xfrm>
          <a:prstGeom prst="rect">
            <a:avLst/>
          </a:prstGeom>
          <a:noFill/>
        </p:spPr>
        <p:txBody>
          <a:bodyPr wrap="square" anchor="b" lIns="0" rIns="0" tIns="0" bIns="0">
            <a:noAutofit/>
          </a:bodyPr>
          <a:lstStyle/>
          <a:p>
            <a:pPr algn="l">
              <a:lnSpc>
                <a:spcPct val="100000"/>
              </a:lnSpc>
            </a:pPr>
            <a:r>
              <a:rPr sz="5400" b="1" i="0">
                <a:solidFill>
                  <a:srgbClr val="28495A"/>
                </a:solidFill>
                <a:latin typeface="Roboto Condensed"/>
              </a:rPr>
              <a:t>04</a:t>
            </a:r>
          </a:p>
        </p:txBody>
      </p:sp>
      <p:sp>
        <p:nvSpPr>
          <p:cNvPr id="15" name="mbl:txt:11" descr="{&quot;mbl&quot;: 1, &quot;c&quot;: &quot;txt&quot;, &quot;i&quot;: 11}"/>
          <p:cNvSpPr txBox="1"/>
          <p:nvPr/>
        </p:nvSpPr>
        <p:spPr>
          <a:xfrm>
            <a:off x="9166631" y="2560320"/>
            <a:ext cx="2659303" cy="365760"/>
          </a:xfrm>
          <a:prstGeom prst="rect">
            <a:avLst/>
          </a:prstGeom>
          <a:noFill/>
        </p:spPr>
        <p:txBody>
          <a:bodyPr wrap="square" anchor="t" lIns="0" rIns="0" tIns="0" bIns="0">
            <a:noAutofit/>
          </a:bodyPr>
          <a:lstStyle/>
          <a:p>
            <a:pPr algn="l">
              <a:lnSpc>
                <a:spcPct val="100000"/>
              </a:lnSpc>
            </a:pPr>
            <a:r>
              <a:rPr sz="1900" b="1" i="0">
                <a:solidFill>
                  <a:srgbClr val="28495A"/>
                </a:solidFill>
                <a:latin typeface="Roboto Condensed"/>
              </a:rPr>
              <a:t>ANSWER OR REPEAT</a:t>
            </a:r>
          </a:p>
        </p:txBody>
      </p:sp>
      <p:sp>
        <p:nvSpPr>
          <p:cNvPr id="16" name="mbl:txt:12" descr="{&quot;mbl&quot;: 1, &quot;c&quot;: &quot;txt&quot;, &quot;i&quot;: 12}"/>
          <p:cNvSpPr txBox="1"/>
          <p:nvPr/>
        </p:nvSpPr>
        <p:spPr>
          <a:xfrm>
            <a:off x="9166631" y="3017520"/>
            <a:ext cx="2659303" cy="1463040"/>
          </a:xfrm>
          <a:prstGeom prst="rect">
            <a:avLst/>
          </a:prstGeom>
          <a:noFill/>
        </p:spPr>
        <p:txBody>
          <a:bodyPr wrap="square" anchor="t" lIns="0" rIns="0" tIns="0" bIns="0">
            <a:noAutofit/>
          </a:bodyPr>
          <a:lstStyle/>
          <a:p>
            <a:pPr algn="l">
              <a:lnSpc>
                <a:spcPct val="115000"/>
              </a:lnSpc>
            </a:pPr>
            <a:r>
              <a:rPr sz="1600" b="0" i="0">
                <a:solidFill>
                  <a:srgbClr val="567F8D"/>
                </a:solidFill>
                <a:latin typeface="Roboto"/>
              </a:rPr>
              <a:t>It replies, repeats the steps, or hands part of the job to another assistant.</a:t>
            </a:r>
          </a:p>
        </p:txBody>
      </p:sp>
      <p:sp>
        <p:nvSpPr>
          <p:cNvPr id="17" name="mbl:strip:1" descr="{&quot;mbl&quot;: 1, &quot;c&quot;: &quot;strip&quot;, &quot;i&quot;: 1}"/>
          <p:cNvSpPr/>
          <p:nvPr/>
        </p:nvSpPr>
        <p:spPr>
          <a:xfrm>
            <a:off x="365760" y="5074920"/>
            <a:ext cx="11460175" cy="777240"/>
          </a:xfrm>
          <a:prstGeom prst="roundRect">
            <a:avLst>
              <a:gd name="adj" fmla="val 5424"/>
            </a:avLst>
          </a:prstGeom>
          <a:solidFill>
            <a:srgbClr val="2849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46304" rIns="146304" tIns="0" bIns="0">
            <a:noAutofit/>
          </a:bodyPr>
          <a:lstStyle/>
          <a:p>
            <a:pPr algn="l"/>
            <a:r>
              <a:rPr sz="1600" b="1">
                <a:solidFill>
                  <a:srgbClr val="E7C568"/>
                </a:solidFill>
                <a:latin typeface="Roboto Condensed"/>
              </a:rPr>
              <a:t>LIMITS YOU SET   </a:t>
            </a:r>
            <a:r>
              <a:rPr sz="1600">
                <a:solidFill>
                  <a:srgbClr val="FFFFFF"/>
                </a:solidFill>
                <a:latin typeface="Roboto"/>
              </a:rPr>
              <a:t>Allowed tools, one database role per assistant, step and time budgets, and a record of every allow or deny decision.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200" b="1" i="0">
                <a:solidFill>
                  <a:srgbClr val="28495A"/>
                </a:solidFill>
                <a:latin typeface="Roboto Condensed"/>
              </a:rPr>
              <a:t>CHOOSE WHERE THE AI RUNS: IN POSTGRES OR AT A PROVIDER</a:t>
            </a:r>
          </a:p>
        </p:txBody>
      </p:sp>
      <p:sp>
        <p:nvSpPr>
          <p:cNvPr id="4" name="mbl:tab:1" descr="{&quot;mbl&quot;: 1, &quot;c&quot;: &quot;tab&quot;, &quot;i&quot;: 1}"/>
          <p:cNvSpPr/>
          <p:nvPr/>
        </p:nvSpPr>
        <p:spPr>
          <a:xfrm>
            <a:off x="365760" y="1417320"/>
            <a:ext cx="5559552" cy="274320"/>
          </a:xfrm>
          <a:prstGeom prst="roundRect">
            <a:avLst>
              <a:gd name="adj" fmla="val 5424"/>
            </a:avLst>
          </a:prstGeom>
          <a:solidFill>
            <a:srgbClr val="2849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a:noAutofit/>
          </a:bodyPr>
          <a:lstStyle/>
          <a:p>
            <a:pPr algn="ctr"/>
            <a:r>
              <a:rPr sz="1200" b="1">
                <a:solidFill>
                  <a:srgbClr val="FFFFFF"/>
                </a:solidFill>
                <a:latin typeface="Roboto Condensed"/>
              </a:rPr>
              <a:t>INSIDE POSTGRES</a:t>
            </a:r>
          </a:p>
        </p:txBody>
      </p:sp>
      <p:sp>
        <p:nvSpPr>
          <p:cNvPr id="5" name="mbl:tab:2" descr="{&quot;mbl&quot;: 1, &quot;c&quot;: &quot;tab&quot;, &quot;i&quot;: 2}"/>
          <p:cNvSpPr/>
          <p:nvPr/>
        </p:nvSpPr>
        <p:spPr>
          <a:xfrm>
            <a:off x="6263640" y="1417320"/>
            <a:ext cx="5559552" cy="274320"/>
          </a:xfrm>
          <a:prstGeom prst="roundRect">
            <a:avLst>
              <a:gd name="adj" fmla="val 5424"/>
            </a:avLst>
          </a:prstGeom>
          <a:solidFill>
            <a:srgbClr val="2849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a:noAutofit/>
          </a:bodyPr>
          <a:lstStyle/>
          <a:p>
            <a:pPr algn="ctr"/>
            <a:r>
              <a:rPr sz="1200" b="1">
                <a:solidFill>
                  <a:srgbClr val="FFFFFF"/>
                </a:solidFill>
                <a:latin typeface="Roboto Condensed"/>
              </a:rPr>
              <a:t>AT A PROVIDER</a:t>
            </a:r>
          </a:p>
        </p:txBody>
      </p:sp>
      <p:cxnSp>
        <p:nvCxnSpPr>
          <p:cNvPr id="6" name="mbl:vrule:1" descr="{&quot;mbl&quot;: 1, &quot;c&quot;: &quot;vrule&quot;, &quot;i&quot;: 1}"/>
          <p:cNvCxnSpPr/>
          <p:nvPr/>
        </p:nvCxnSpPr>
        <p:spPr>
          <a:xfrm>
            <a:off x="6096304" y="1463040"/>
            <a:ext cx="0" cy="3749039"/>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7" name="mbl:txt:1" descr="{&quot;mbl&quot;: 1, &quot;c&quot;: &quot;txt&quot;, &quot;i&quot;: 1}"/>
          <p:cNvSpPr txBox="1"/>
          <p:nvPr/>
        </p:nvSpPr>
        <p:spPr>
          <a:xfrm>
            <a:off x="365760" y="1920240"/>
            <a:ext cx="5559552" cy="292608"/>
          </a:xfrm>
          <a:prstGeom prst="rect">
            <a:avLst/>
          </a:prstGeom>
          <a:noFill/>
        </p:spPr>
        <p:txBody>
          <a:bodyPr wrap="square" anchor="t" lIns="0" rIns="0" tIns="0" bIns="0">
            <a:noAutofit/>
          </a:bodyPr>
          <a:lstStyle/>
          <a:p>
            <a:pPr algn="l">
              <a:lnSpc>
                <a:spcPct val="100000"/>
              </a:lnSpc>
            </a:pPr>
            <a:r>
              <a:rPr sz="1700" b="1" i="0">
                <a:solidFill>
                  <a:srgbClr val="28495A"/>
                </a:solidFill>
                <a:latin typeface="Roboto Condensed"/>
              </a:rPr>
              <a:t>Examples</a:t>
            </a:r>
          </a:p>
        </p:txBody>
      </p:sp>
      <p:sp>
        <p:nvSpPr>
          <p:cNvPr id="8" name="mbl:txt:2" descr="{&quot;mbl&quot;: 1, &quot;c&quot;: &quot;txt&quot;, &quot;i&quot;: 2}"/>
          <p:cNvSpPr txBox="1"/>
          <p:nvPr/>
        </p:nvSpPr>
        <p:spPr>
          <a:xfrm>
            <a:off x="365760" y="2249424"/>
            <a:ext cx="5559552" cy="548640"/>
          </a:xfrm>
          <a:prstGeom prst="rect">
            <a:avLst/>
          </a:prstGeom>
          <a:noFill/>
        </p:spPr>
        <p:txBody>
          <a:bodyPr wrap="square" anchor="t" lIns="0" rIns="0" tIns="0" bIns="0">
            <a:noAutofit/>
          </a:bodyPr>
          <a:lstStyle/>
          <a:p>
            <a:pPr algn="l">
              <a:lnSpc>
                <a:spcPct val="110000"/>
              </a:lnSpc>
            </a:pPr>
            <a:r>
              <a:rPr sz="1400" b="0" i="0">
                <a:solidFill>
                  <a:srgbClr val="567F8D"/>
                </a:solidFill>
                <a:latin typeface="Roboto"/>
              </a:rPr>
              <a:t>BERT, CLIP, T5 and Llama models run on the database host.</a:t>
            </a:r>
          </a:p>
        </p:txBody>
      </p:sp>
      <p:sp>
        <p:nvSpPr>
          <p:cNvPr id="9" name="mbl:txt:3" descr="{&quot;mbl&quot;: 1, &quot;c&quot;: &quot;txt&quot;, &quot;i&quot;: 3}"/>
          <p:cNvSpPr txBox="1"/>
          <p:nvPr/>
        </p:nvSpPr>
        <p:spPr>
          <a:xfrm>
            <a:off x="365760" y="2926080"/>
            <a:ext cx="5559552" cy="292608"/>
          </a:xfrm>
          <a:prstGeom prst="rect">
            <a:avLst/>
          </a:prstGeom>
          <a:noFill/>
        </p:spPr>
        <p:txBody>
          <a:bodyPr wrap="square" anchor="t" lIns="0" rIns="0" tIns="0" bIns="0">
            <a:noAutofit/>
          </a:bodyPr>
          <a:lstStyle/>
          <a:p>
            <a:pPr algn="l">
              <a:lnSpc>
                <a:spcPct val="100000"/>
              </a:lnSpc>
            </a:pPr>
            <a:r>
              <a:rPr sz="1700" b="1" i="0">
                <a:solidFill>
                  <a:srgbClr val="28495A"/>
                </a:solidFill>
                <a:latin typeface="Roboto Condensed"/>
              </a:rPr>
              <a:t>Keys</a:t>
            </a:r>
          </a:p>
        </p:txBody>
      </p:sp>
      <p:sp>
        <p:nvSpPr>
          <p:cNvPr id="10" name="mbl:txt:4" descr="{&quot;mbl&quot;: 1, &quot;c&quot;: &quot;txt&quot;, &quot;i&quot;: 4}"/>
          <p:cNvSpPr txBox="1"/>
          <p:nvPr/>
        </p:nvSpPr>
        <p:spPr>
          <a:xfrm>
            <a:off x="365760" y="3255264"/>
            <a:ext cx="5559552" cy="548640"/>
          </a:xfrm>
          <a:prstGeom prst="rect">
            <a:avLst/>
          </a:prstGeom>
          <a:noFill/>
        </p:spPr>
        <p:txBody>
          <a:bodyPr wrap="square" anchor="t" lIns="0" rIns="0" tIns="0" bIns="0">
            <a:noAutofit/>
          </a:bodyPr>
          <a:lstStyle/>
          <a:p>
            <a:pPr algn="l">
              <a:lnSpc>
                <a:spcPct val="110000"/>
              </a:lnSpc>
            </a:pPr>
            <a:r>
              <a:rPr sz="1400" b="0" i="0">
                <a:solidFill>
                  <a:srgbClr val="567F8D"/>
                </a:solidFill>
                <a:latin typeface="Roboto"/>
              </a:rPr>
              <a:t>No API key is needed.</a:t>
            </a:r>
          </a:p>
        </p:txBody>
      </p:sp>
      <p:sp>
        <p:nvSpPr>
          <p:cNvPr id="11" name="mbl:txt:5" descr="{&quot;mbl&quot;: 1, &quot;c&quot;: &quot;txt&quot;, &quot;i&quot;: 5}"/>
          <p:cNvSpPr txBox="1"/>
          <p:nvPr/>
        </p:nvSpPr>
        <p:spPr>
          <a:xfrm>
            <a:off x="365760" y="3931920"/>
            <a:ext cx="5559552" cy="292608"/>
          </a:xfrm>
          <a:prstGeom prst="rect">
            <a:avLst/>
          </a:prstGeom>
          <a:noFill/>
        </p:spPr>
        <p:txBody>
          <a:bodyPr wrap="square" anchor="t" lIns="0" rIns="0" tIns="0" bIns="0">
            <a:noAutofit/>
          </a:bodyPr>
          <a:lstStyle/>
          <a:p>
            <a:pPr algn="l">
              <a:lnSpc>
                <a:spcPct val="100000"/>
              </a:lnSpc>
            </a:pPr>
            <a:r>
              <a:rPr sz="1700" b="1" i="0">
                <a:solidFill>
                  <a:srgbClr val="28495A"/>
                </a:solidFill>
                <a:latin typeface="Roboto Condensed"/>
              </a:rPr>
              <a:t>Where text goes</a:t>
            </a:r>
          </a:p>
        </p:txBody>
      </p:sp>
      <p:sp>
        <p:nvSpPr>
          <p:cNvPr id="12" name="mbl:txt:6" descr="{&quot;mbl&quot;: 1, &quot;c&quot;: &quot;txt&quot;, &quot;i&quot;: 6}"/>
          <p:cNvSpPr txBox="1"/>
          <p:nvPr/>
        </p:nvSpPr>
        <p:spPr>
          <a:xfrm>
            <a:off x="365760" y="4261104"/>
            <a:ext cx="5559552" cy="548640"/>
          </a:xfrm>
          <a:prstGeom prst="rect">
            <a:avLst/>
          </a:prstGeom>
          <a:noFill/>
        </p:spPr>
        <p:txBody>
          <a:bodyPr wrap="square" anchor="t" lIns="0" rIns="0" tIns="0" bIns="0">
            <a:noAutofit/>
          </a:bodyPr>
          <a:lstStyle/>
          <a:p>
            <a:pPr algn="l">
              <a:lnSpc>
                <a:spcPct val="110000"/>
              </a:lnSpc>
            </a:pPr>
            <a:r>
              <a:rPr sz="1400" b="0" i="0">
                <a:solidFill>
                  <a:srgbClr val="567F8D"/>
                </a:solidFill>
                <a:latin typeface="Roboto"/>
              </a:rPr>
              <a:t>It stays inside Postgres while it is processed.</a:t>
            </a:r>
          </a:p>
        </p:txBody>
      </p:sp>
      <p:sp>
        <p:nvSpPr>
          <p:cNvPr id="13" name="mbl:txt:7" descr="{&quot;mbl&quot;: 1, &quot;c&quot;: &quot;txt&quot;, &quot;i&quot;: 7}"/>
          <p:cNvSpPr txBox="1"/>
          <p:nvPr/>
        </p:nvSpPr>
        <p:spPr>
          <a:xfrm>
            <a:off x="6263640" y="1920240"/>
            <a:ext cx="5559552" cy="292608"/>
          </a:xfrm>
          <a:prstGeom prst="rect">
            <a:avLst/>
          </a:prstGeom>
          <a:noFill/>
        </p:spPr>
        <p:txBody>
          <a:bodyPr wrap="square" anchor="t" lIns="0" rIns="0" tIns="0" bIns="0">
            <a:noAutofit/>
          </a:bodyPr>
          <a:lstStyle/>
          <a:p>
            <a:pPr algn="l">
              <a:lnSpc>
                <a:spcPct val="100000"/>
              </a:lnSpc>
            </a:pPr>
            <a:r>
              <a:rPr sz="1700" b="1" i="0">
                <a:solidFill>
                  <a:srgbClr val="28495A"/>
                </a:solidFill>
                <a:latin typeface="Roboto Condensed"/>
              </a:rPr>
              <a:t>Examples</a:t>
            </a:r>
          </a:p>
        </p:txBody>
      </p:sp>
      <p:sp>
        <p:nvSpPr>
          <p:cNvPr id="14" name="mbl:txt:8" descr="{&quot;mbl&quot;: 1, &quot;c&quot;: &quot;txt&quot;, &quot;i&quot;: 8}"/>
          <p:cNvSpPr txBox="1"/>
          <p:nvPr/>
        </p:nvSpPr>
        <p:spPr>
          <a:xfrm>
            <a:off x="6263640" y="2249424"/>
            <a:ext cx="5559552" cy="548640"/>
          </a:xfrm>
          <a:prstGeom prst="rect">
            <a:avLst/>
          </a:prstGeom>
          <a:noFill/>
        </p:spPr>
        <p:txBody>
          <a:bodyPr wrap="square" anchor="t" lIns="0" rIns="0" tIns="0" bIns="0">
            <a:noAutofit/>
          </a:bodyPr>
          <a:lstStyle/>
          <a:p>
            <a:pPr algn="l">
              <a:lnSpc>
                <a:spcPct val="110000"/>
              </a:lnSpc>
            </a:pPr>
            <a:r>
              <a:rPr sz="1400" b="0" i="0">
                <a:solidFill>
                  <a:srgbClr val="567F8D"/>
                </a:solidFill>
                <a:latin typeface="Roboto"/>
              </a:rPr>
              <a:t>NVIDIA NIM, Google Gemini, OpenRouter, Anthropic and any OpenAI-compatible service.</a:t>
            </a:r>
          </a:p>
        </p:txBody>
      </p:sp>
      <p:sp>
        <p:nvSpPr>
          <p:cNvPr id="15" name="mbl:txt:9" descr="{&quot;mbl&quot;: 1, &quot;c&quot;: &quot;txt&quot;, &quot;i&quot;: 9}"/>
          <p:cNvSpPr txBox="1"/>
          <p:nvPr/>
        </p:nvSpPr>
        <p:spPr>
          <a:xfrm>
            <a:off x="6263640" y="2926080"/>
            <a:ext cx="5559552" cy="292608"/>
          </a:xfrm>
          <a:prstGeom prst="rect">
            <a:avLst/>
          </a:prstGeom>
          <a:noFill/>
        </p:spPr>
        <p:txBody>
          <a:bodyPr wrap="square" anchor="t" lIns="0" rIns="0" tIns="0" bIns="0">
            <a:noAutofit/>
          </a:bodyPr>
          <a:lstStyle/>
          <a:p>
            <a:pPr algn="l">
              <a:lnSpc>
                <a:spcPct val="100000"/>
              </a:lnSpc>
            </a:pPr>
            <a:r>
              <a:rPr sz="1700" b="1" i="0">
                <a:solidFill>
                  <a:srgbClr val="28495A"/>
                </a:solidFill>
                <a:latin typeface="Roboto Condensed"/>
              </a:rPr>
              <a:t>Keys</a:t>
            </a:r>
          </a:p>
        </p:txBody>
      </p:sp>
      <p:sp>
        <p:nvSpPr>
          <p:cNvPr id="16" name="mbl:txt:10" descr="{&quot;mbl&quot;: 1, &quot;c&quot;: &quot;txt&quot;, &quot;i&quot;: 10}"/>
          <p:cNvSpPr txBox="1"/>
          <p:nvPr/>
        </p:nvSpPr>
        <p:spPr>
          <a:xfrm>
            <a:off x="6263640" y="3255264"/>
            <a:ext cx="5559552" cy="548640"/>
          </a:xfrm>
          <a:prstGeom prst="rect">
            <a:avLst/>
          </a:prstGeom>
          <a:noFill/>
        </p:spPr>
        <p:txBody>
          <a:bodyPr wrap="square" anchor="t" lIns="0" rIns="0" tIns="0" bIns="0">
            <a:noAutofit/>
          </a:bodyPr>
          <a:lstStyle/>
          <a:p>
            <a:pPr algn="l">
              <a:lnSpc>
                <a:spcPct val="110000"/>
              </a:lnSpc>
            </a:pPr>
            <a:r>
              <a:rPr sz="1400" b="0" i="0">
                <a:solidFill>
                  <a:srgbClr val="567F8D"/>
                </a:solidFill>
                <a:latin typeface="Roboto"/>
              </a:rPr>
              <a:t>An API key in a named credential, new in 7.8.</a:t>
            </a:r>
          </a:p>
        </p:txBody>
      </p:sp>
      <p:sp>
        <p:nvSpPr>
          <p:cNvPr id="17" name="mbl:txt:11" descr="{&quot;mbl&quot;: 1, &quot;c&quot;: &quot;txt&quot;, &quot;i&quot;: 11}"/>
          <p:cNvSpPr txBox="1"/>
          <p:nvPr/>
        </p:nvSpPr>
        <p:spPr>
          <a:xfrm>
            <a:off x="6263640" y="3931920"/>
            <a:ext cx="5559552" cy="292608"/>
          </a:xfrm>
          <a:prstGeom prst="rect">
            <a:avLst/>
          </a:prstGeom>
          <a:noFill/>
        </p:spPr>
        <p:txBody>
          <a:bodyPr wrap="square" anchor="t" lIns="0" rIns="0" tIns="0" bIns="0">
            <a:noAutofit/>
          </a:bodyPr>
          <a:lstStyle/>
          <a:p>
            <a:pPr algn="l">
              <a:lnSpc>
                <a:spcPct val="100000"/>
              </a:lnSpc>
            </a:pPr>
            <a:r>
              <a:rPr sz="1700" b="1" i="0">
                <a:solidFill>
                  <a:srgbClr val="28495A"/>
                </a:solidFill>
                <a:latin typeface="Roboto Condensed"/>
              </a:rPr>
              <a:t>Where text goes</a:t>
            </a:r>
          </a:p>
        </p:txBody>
      </p:sp>
      <p:sp>
        <p:nvSpPr>
          <p:cNvPr id="18" name="mbl:txt:12" descr="{&quot;mbl&quot;: 1, &quot;c&quot;: &quot;txt&quot;, &quot;i&quot;: 12}"/>
          <p:cNvSpPr txBox="1"/>
          <p:nvPr/>
        </p:nvSpPr>
        <p:spPr>
          <a:xfrm>
            <a:off x="6263640" y="4261104"/>
            <a:ext cx="5559552" cy="548640"/>
          </a:xfrm>
          <a:prstGeom prst="rect">
            <a:avLst/>
          </a:prstGeom>
          <a:noFill/>
        </p:spPr>
        <p:txBody>
          <a:bodyPr wrap="square" anchor="t" lIns="0" rIns="0" tIns="0" bIns="0">
            <a:noAutofit/>
          </a:bodyPr>
          <a:lstStyle/>
          <a:p>
            <a:pPr algn="l">
              <a:lnSpc>
                <a:spcPct val="110000"/>
              </a:lnSpc>
            </a:pPr>
            <a:r>
              <a:rPr sz="1400" b="0" i="0">
                <a:solidFill>
                  <a:srgbClr val="567F8D"/>
                </a:solidFill>
                <a:latin typeface="Roboto"/>
              </a:rPr>
              <a:t>It is sent to the provider, so site limits apply.</a:t>
            </a:r>
          </a:p>
        </p:txBody>
      </p:sp>
      <p:sp>
        <p:nvSpPr>
          <p:cNvPr id="19" name="mbl:runs:1" descr="{&quot;mbl&quot;: 1, &quot;c&quot;: &quot;runs&quot;, &quot;i&quot;: 1}"/>
          <p:cNvSpPr txBox="1"/>
          <p:nvPr/>
        </p:nvSpPr>
        <p:spPr>
          <a:xfrm>
            <a:off x="365760" y="4937760"/>
            <a:ext cx="5559552" cy="457200"/>
          </a:xfrm>
          <a:prstGeom prst="rect">
            <a:avLst/>
          </a:prstGeom>
          <a:noFill/>
        </p:spPr>
        <p:txBody>
          <a:bodyPr wrap="square" anchor="ctr" lIns="0" rIns="0" tIns="0" bIns="0">
            <a:noAutofit/>
          </a:bodyPr>
          <a:lstStyle/>
          <a:p>
            <a:pPr algn="l">
              <a:lnSpc>
                <a:spcPct val="100000"/>
              </a:lnSpc>
            </a:pPr>
            <a:r>
              <a:rPr sz="1100" b="1">
                <a:solidFill>
                  <a:srgbClr val="567F8D"/>
                </a:solidFill>
                <a:latin typeface="Roboto Condensed"/>
              </a:rPr>
              <a:t>BEST FOR  </a:t>
            </a:r>
            <a:r>
              <a:rPr sz="1400" b="1">
                <a:solidFill>
                  <a:srgbClr val="28495A"/>
                </a:solidFill>
                <a:latin typeface="Roboto"/>
              </a:rPr>
              <a:t>Sensitive data, and trying ideas cheaply.</a:t>
            </a:r>
          </a:p>
        </p:txBody>
      </p:sp>
      <p:sp>
        <p:nvSpPr>
          <p:cNvPr id="20" name="mbl:runs:2" descr="{&quot;mbl&quot;: 1, &quot;c&quot;: &quot;runs&quot;, &quot;i&quot;: 2}"/>
          <p:cNvSpPr txBox="1"/>
          <p:nvPr/>
        </p:nvSpPr>
        <p:spPr>
          <a:xfrm>
            <a:off x="6263640" y="4937760"/>
            <a:ext cx="5559552" cy="457200"/>
          </a:xfrm>
          <a:prstGeom prst="rect">
            <a:avLst/>
          </a:prstGeom>
          <a:noFill/>
        </p:spPr>
        <p:txBody>
          <a:bodyPr wrap="square" anchor="ctr" lIns="0" rIns="0" tIns="0" bIns="0">
            <a:noAutofit/>
          </a:bodyPr>
          <a:lstStyle/>
          <a:p>
            <a:pPr algn="l">
              <a:lnSpc>
                <a:spcPct val="100000"/>
              </a:lnSpc>
            </a:pPr>
            <a:r>
              <a:rPr sz="1100" b="1">
                <a:solidFill>
                  <a:srgbClr val="567F8D"/>
                </a:solidFill>
                <a:latin typeface="Roboto Condensed"/>
              </a:rPr>
              <a:t>BEST FOR  </a:t>
            </a:r>
            <a:r>
              <a:rPr sz="1400" b="1">
                <a:solidFill>
                  <a:srgbClr val="28495A"/>
                </a:solidFill>
                <a:latin typeface="Roboto"/>
              </a:rPr>
              <a:t>Models with the strongest language skills.</a:t>
            </a:r>
          </a:p>
        </p:txBody>
      </p:sp>
      <p:sp>
        <p:nvSpPr>
          <p:cNvPr id="21" name="mbl:strip:1" descr="{&quot;mbl&quot;: 1, &quot;c&quot;: &quot;strip&quot;, &quot;i&quot;: 1}"/>
          <p:cNvSpPr/>
          <p:nvPr/>
        </p:nvSpPr>
        <p:spPr>
          <a:xfrm>
            <a:off x="365760" y="5577840"/>
            <a:ext cx="11460175" cy="502920"/>
          </a:xfrm>
          <a:prstGeom prst="roundRect">
            <a:avLst>
              <a:gd name="adj" fmla="val 5424"/>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46304" rIns="146304" tIns="0" bIns="0">
            <a:noAutofit/>
          </a:bodyPr>
          <a:lstStyle/>
          <a:p>
            <a:pPr algn="l"/>
            <a:r>
              <a:rPr sz="1400" b="1">
                <a:solidFill>
                  <a:srgbClr val="28495A"/>
                </a:solidFill>
                <a:latin typeface="Roboto Condensed"/>
              </a:rPr>
              <a:t>NOT A ONE-WAY DOOR   </a:t>
            </a:r>
            <a:r>
              <a:rPr sz="1400">
                <a:solidFill>
                  <a:srgbClr val="28495A"/>
                </a:solidFill>
                <a:latin typeface="Roboto"/>
              </a:rPr>
              <a:t>Applications use both kinds in the same way, so you can switch models later.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ACCESS TO AI IS CONTROLLED, AND 7.8 TIGHTENS IT</a:t>
            </a:r>
          </a:p>
        </p:txBody>
      </p:sp>
      <p:sp>
        <p:nvSpPr>
          <p:cNvPr id="4" name="mbl:txt:1" descr="{&quot;mbl&quot;: 1, &quot;c&quot;: &quot;txt&quot;, &quot;i&quot;: 1}"/>
          <p:cNvSpPr txBox="1"/>
          <p:nvPr/>
        </p:nvSpPr>
        <p:spPr>
          <a:xfrm>
            <a:off x="365760" y="1371600"/>
            <a:ext cx="3108960" cy="237744"/>
          </a:xfrm>
          <a:prstGeom prst="rect">
            <a:avLst/>
          </a:prstGeom>
          <a:noFill/>
        </p:spPr>
        <p:txBody>
          <a:bodyPr wrap="square" anchor="t" lIns="0" rIns="0" tIns="0" bIns="0">
            <a:noAutofit/>
          </a:bodyPr>
          <a:lstStyle/>
          <a:p>
            <a:pPr algn="l">
              <a:lnSpc>
                <a:spcPct val="100000"/>
              </a:lnSpc>
            </a:pPr>
            <a:r>
              <a:rPr sz="1100" b="1" i="0">
                <a:solidFill>
                  <a:srgbClr val="567F8D"/>
                </a:solidFill>
                <a:latin typeface="Roboto Condensed"/>
              </a:rPr>
              <a:t>WHAT YOU GET</a:t>
            </a:r>
          </a:p>
        </p:txBody>
      </p:sp>
      <p:sp>
        <p:nvSpPr>
          <p:cNvPr id="5" name="mbl:txt:2" descr="{&quot;mbl&quot;: 1, &quot;c&quot;: &quot;txt&quot;, &quot;i&quot;: 2}"/>
          <p:cNvSpPr txBox="1"/>
          <p:nvPr/>
        </p:nvSpPr>
        <p:spPr>
          <a:xfrm>
            <a:off x="3657600" y="1371600"/>
            <a:ext cx="5760720" cy="237744"/>
          </a:xfrm>
          <a:prstGeom prst="rect">
            <a:avLst/>
          </a:prstGeom>
          <a:noFill/>
        </p:spPr>
        <p:txBody>
          <a:bodyPr wrap="square" anchor="t" lIns="0" rIns="0" tIns="0" bIns="0">
            <a:noAutofit/>
          </a:bodyPr>
          <a:lstStyle/>
          <a:p>
            <a:pPr algn="l">
              <a:lnSpc>
                <a:spcPct val="100000"/>
              </a:lnSpc>
            </a:pPr>
            <a:r>
              <a:rPr sz="1100" b="1" i="0">
                <a:solidFill>
                  <a:srgbClr val="567F8D"/>
                </a:solidFill>
                <a:latin typeface="Roboto Condensed"/>
              </a:rPr>
              <a:t>WHY IT HELPS</a:t>
            </a:r>
          </a:p>
        </p:txBody>
      </p:sp>
      <p:sp>
        <p:nvSpPr>
          <p:cNvPr id="6" name="mbl:txt:3" descr="{&quot;mbl&quot;: 1, &quot;c&quot;: &quot;txt&quot;, &quot;i&quot;: 3}"/>
          <p:cNvSpPr txBox="1"/>
          <p:nvPr/>
        </p:nvSpPr>
        <p:spPr>
          <a:xfrm>
            <a:off x="9601200" y="1371600"/>
            <a:ext cx="2313432" cy="237744"/>
          </a:xfrm>
          <a:prstGeom prst="rect">
            <a:avLst/>
          </a:prstGeom>
          <a:noFill/>
        </p:spPr>
        <p:txBody>
          <a:bodyPr wrap="square" anchor="t" lIns="0" rIns="0" tIns="0" bIns="0">
            <a:noAutofit/>
          </a:bodyPr>
          <a:lstStyle/>
          <a:p>
            <a:pPr algn="l">
              <a:lnSpc>
                <a:spcPct val="100000"/>
              </a:lnSpc>
            </a:pPr>
            <a:r>
              <a:rPr sz="1100" b="1" i="0">
                <a:solidFill>
                  <a:srgbClr val="567F8D"/>
                </a:solidFill>
                <a:latin typeface="Roboto Condensed"/>
              </a:rPr>
              <a:t>AVAILABLE</a:t>
            </a:r>
          </a:p>
        </p:txBody>
      </p:sp>
      <p:cxnSp>
        <p:nvCxnSpPr>
          <p:cNvPr id="7" name="mbl:hrule:1" descr="{&quot;mbl&quot;: 1, &quot;c&quot;: &quot;hrule&quot;, &quot;i&quot;: 1}"/>
          <p:cNvCxnSpPr/>
          <p:nvPr/>
        </p:nvCxnSpPr>
        <p:spPr>
          <a:xfrm>
            <a:off x="365760" y="1664208"/>
            <a:ext cx="11460175" cy="0"/>
          </a:xfrm>
          <a:prstGeom prst="line">
            <a:avLst/>
          </a:prstGeom>
          <a:ln w="25400">
            <a:solidFill>
              <a:srgbClr val="28495A"/>
            </a:solidFill>
          </a:ln>
          <a:effectLst/>
        </p:spPr>
        <p:style>
          <a:lnRef idx="2">
            <a:schemeClr val="accent1"/>
          </a:lnRef>
          <a:fillRef idx="0">
            <a:schemeClr val="accent1"/>
          </a:fillRef>
          <a:effectRef idx="0">
            <a:schemeClr val="accent1"/>
          </a:effectRef>
          <a:fontRef idx="minor">
            <a:schemeClr val="tx1"/>
          </a:fontRef>
        </p:style>
      </p:cxnSp>
      <p:sp>
        <p:nvSpPr>
          <p:cNvPr id="8" name="mbl:txt:4" descr="{&quot;mbl&quot;: 1, &quot;c&quot;: &quot;txt&quot;, &quot;i&quot;: 4}"/>
          <p:cNvSpPr txBox="1"/>
          <p:nvPr/>
        </p:nvSpPr>
        <p:spPr>
          <a:xfrm>
            <a:off x="365760" y="1755648"/>
            <a:ext cx="3108960" cy="874166"/>
          </a:xfrm>
          <a:prstGeom prst="rect">
            <a:avLst/>
          </a:prstGeom>
          <a:noFill/>
        </p:spPr>
        <p:txBody>
          <a:bodyPr wrap="square" anchor="ctr" lIns="0" rIns="0" tIns="0" bIns="0">
            <a:noAutofit/>
          </a:bodyPr>
          <a:lstStyle/>
          <a:p>
            <a:pPr algn="l">
              <a:lnSpc>
                <a:spcPct val="100000"/>
              </a:lnSpc>
            </a:pPr>
            <a:r>
              <a:rPr sz="1700" b="1" i="0">
                <a:solidFill>
                  <a:srgbClr val="28495A"/>
                </a:solidFill>
                <a:latin typeface="Roboto Condensed"/>
              </a:rPr>
              <a:t>Keys in named credentials</a:t>
            </a:r>
          </a:p>
        </p:txBody>
      </p:sp>
      <p:sp>
        <p:nvSpPr>
          <p:cNvPr id="9" name="mbl:txt:5" descr="{&quot;mbl&quot;: 1, &quot;c&quot;: &quot;txt&quot;, &quot;i&quot;: 5}"/>
          <p:cNvSpPr txBox="1"/>
          <p:nvPr/>
        </p:nvSpPr>
        <p:spPr>
          <a:xfrm>
            <a:off x="3657600" y="1755648"/>
            <a:ext cx="5760720" cy="874166"/>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An API key is stored once and shared with chosen colleagues, instead of being copied into scripts.</a:t>
            </a:r>
          </a:p>
        </p:txBody>
      </p:sp>
      <p:sp>
        <p:nvSpPr>
          <p:cNvPr id="10" name="mbl:txt:6" descr="{&quot;mbl&quot;: 1, &quot;c&quot;: &quot;txt&quot;, &quot;i&quot;: 6}"/>
          <p:cNvSpPr txBox="1"/>
          <p:nvPr/>
        </p:nvSpPr>
        <p:spPr>
          <a:xfrm>
            <a:off x="9601200" y="1755648"/>
            <a:ext cx="2313432" cy="874166"/>
          </a:xfrm>
          <a:prstGeom prst="rect">
            <a:avLst/>
          </a:prstGeom>
          <a:noFill/>
        </p:spPr>
        <p:txBody>
          <a:bodyPr wrap="square" anchor="ctr" lIns="0" rIns="0" tIns="0" bIns="0">
            <a:noAutofit/>
          </a:bodyPr>
          <a:lstStyle/>
          <a:p>
            <a:pPr algn="l">
              <a:lnSpc>
                <a:spcPct val="100000"/>
              </a:lnSpc>
            </a:pPr>
            <a:r>
              <a:rPr sz="1400" b="0" i="0">
                <a:solidFill>
                  <a:srgbClr val="567F8D"/>
                </a:solidFill>
                <a:latin typeface="Roboto"/>
              </a:rPr>
              <a:t>New in 7.8</a:t>
            </a:r>
          </a:p>
        </p:txBody>
      </p:sp>
      <p:cxnSp>
        <p:nvCxnSpPr>
          <p:cNvPr id="11" name="mbl:hrule:2" descr="{&quot;mbl&quot;: 1, &quot;c&quot;: &quot;hrule&quot;, &quot;i&quot;: 2}"/>
          <p:cNvCxnSpPr/>
          <p:nvPr/>
        </p:nvCxnSpPr>
        <p:spPr>
          <a:xfrm>
            <a:off x="365760" y="2629814"/>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2" name="mbl:txt:7" descr="{&quot;mbl&quot;: 1, &quot;c&quot;: &quot;txt&quot;, &quot;i&quot;: 7}"/>
          <p:cNvSpPr txBox="1"/>
          <p:nvPr/>
        </p:nvSpPr>
        <p:spPr>
          <a:xfrm>
            <a:off x="365760" y="2629814"/>
            <a:ext cx="3108960" cy="874166"/>
          </a:xfrm>
          <a:prstGeom prst="rect">
            <a:avLst/>
          </a:prstGeom>
          <a:noFill/>
        </p:spPr>
        <p:txBody>
          <a:bodyPr wrap="square" anchor="ctr" lIns="0" rIns="0" tIns="0" bIns="0">
            <a:noAutofit/>
          </a:bodyPr>
          <a:lstStyle/>
          <a:p>
            <a:pPr algn="l">
              <a:lnSpc>
                <a:spcPct val="100000"/>
              </a:lnSpc>
            </a:pPr>
            <a:r>
              <a:rPr sz="1700" b="1" i="0">
                <a:solidFill>
                  <a:srgbClr val="28495A"/>
                </a:solidFill>
                <a:latin typeface="Roboto Condensed"/>
              </a:rPr>
              <a:t>Limits on where a key works</a:t>
            </a:r>
          </a:p>
        </p:txBody>
      </p:sp>
      <p:sp>
        <p:nvSpPr>
          <p:cNvPr id="13" name="mbl:txt:8" descr="{&quot;mbl&quot;: 1, &quot;c&quot;: &quot;txt&quot;, &quot;i&quot;: 8}"/>
          <p:cNvSpPr txBox="1"/>
          <p:nvPr/>
        </p:nvSpPr>
        <p:spPr>
          <a:xfrm>
            <a:off x="3657600" y="2629814"/>
            <a:ext cx="5760720" cy="874166"/>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Each credential is restricted to the approved sites it may call.</a:t>
            </a:r>
          </a:p>
        </p:txBody>
      </p:sp>
      <p:sp>
        <p:nvSpPr>
          <p:cNvPr id="14" name="mbl:txt:9" descr="{&quot;mbl&quot;: 1, &quot;c&quot;: &quot;txt&quot;, &quot;i&quot;: 9}"/>
          <p:cNvSpPr txBox="1"/>
          <p:nvPr/>
        </p:nvSpPr>
        <p:spPr>
          <a:xfrm>
            <a:off x="9601200" y="2629814"/>
            <a:ext cx="2313432" cy="874166"/>
          </a:xfrm>
          <a:prstGeom prst="rect">
            <a:avLst/>
          </a:prstGeom>
          <a:noFill/>
        </p:spPr>
        <p:txBody>
          <a:bodyPr wrap="square" anchor="ctr" lIns="0" rIns="0" tIns="0" bIns="0">
            <a:noAutofit/>
          </a:bodyPr>
          <a:lstStyle/>
          <a:p>
            <a:pPr algn="l">
              <a:lnSpc>
                <a:spcPct val="100000"/>
              </a:lnSpc>
            </a:pPr>
            <a:r>
              <a:rPr sz="1400" b="0" i="0">
                <a:solidFill>
                  <a:srgbClr val="567F8D"/>
                </a:solidFill>
                <a:latin typeface="Roboto"/>
              </a:rPr>
              <a:t>New in 7.8</a:t>
            </a:r>
          </a:p>
        </p:txBody>
      </p:sp>
      <p:cxnSp>
        <p:nvCxnSpPr>
          <p:cNvPr id="15" name="mbl:hrule:3" descr="{&quot;mbl&quot;: 1, &quot;c&quot;: &quot;hrule&quot;, &quot;i&quot;: 3}"/>
          <p:cNvCxnSpPr/>
          <p:nvPr/>
        </p:nvCxnSpPr>
        <p:spPr>
          <a:xfrm>
            <a:off x="365760" y="3503980"/>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6" name="mbl:txt:10" descr="{&quot;mbl&quot;: 1, &quot;c&quot;: &quot;txt&quot;, &quot;i&quot;: 10}"/>
          <p:cNvSpPr txBox="1"/>
          <p:nvPr/>
        </p:nvSpPr>
        <p:spPr>
          <a:xfrm>
            <a:off x="365760" y="3503980"/>
            <a:ext cx="3108960" cy="874166"/>
          </a:xfrm>
          <a:prstGeom prst="rect">
            <a:avLst/>
          </a:prstGeom>
          <a:noFill/>
        </p:spPr>
        <p:txBody>
          <a:bodyPr wrap="square" anchor="ctr" lIns="0" rIns="0" tIns="0" bIns="0">
            <a:noAutofit/>
          </a:bodyPr>
          <a:lstStyle/>
          <a:p>
            <a:pPr algn="l">
              <a:lnSpc>
                <a:spcPct val="100000"/>
              </a:lnSpc>
            </a:pPr>
            <a:r>
              <a:rPr sz="1700" b="1" i="0">
                <a:solidFill>
                  <a:srgbClr val="28495A"/>
                </a:solidFill>
                <a:latin typeface="Roboto Condensed"/>
              </a:rPr>
              <a:t>Keys kept outside the database</a:t>
            </a:r>
          </a:p>
        </p:txBody>
      </p:sp>
      <p:sp>
        <p:nvSpPr>
          <p:cNvPr id="17" name="mbl:txt:11" descr="{&quot;mbl&quot;: 1, &quot;c&quot;: &quot;txt&quot;, &quot;i&quot;: 11}"/>
          <p:cNvSpPr txBox="1"/>
          <p:nvPr/>
        </p:nvSpPr>
        <p:spPr>
          <a:xfrm>
            <a:off x="3657600" y="3503980"/>
            <a:ext cx="5760720" cy="874166"/>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Keys can come from environment variables or Kubernetes Secrets, managed by a dedicated admin role.</a:t>
            </a:r>
          </a:p>
        </p:txBody>
      </p:sp>
      <p:sp>
        <p:nvSpPr>
          <p:cNvPr id="18" name="mbl:txt:12" descr="{&quot;mbl&quot;: 1, &quot;c&quot;: &quot;txt&quot;, &quot;i&quot;: 12}"/>
          <p:cNvSpPr txBox="1"/>
          <p:nvPr/>
        </p:nvSpPr>
        <p:spPr>
          <a:xfrm>
            <a:off x="9601200" y="3503980"/>
            <a:ext cx="2313432" cy="874166"/>
          </a:xfrm>
          <a:prstGeom prst="rect">
            <a:avLst/>
          </a:prstGeom>
          <a:noFill/>
        </p:spPr>
        <p:txBody>
          <a:bodyPr wrap="square" anchor="ctr" lIns="0" rIns="0" tIns="0" bIns="0">
            <a:noAutofit/>
          </a:bodyPr>
          <a:lstStyle/>
          <a:p>
            <a:pPr algn="l">
              <a:lnSpc>
                <a:spcPct val="100000"/>
              </a:lnSpc>
            </a:pPr>
            <a:r>
              <a:rPr sz="1400" b="0" i="0">
                <a:solidFill>
                  <a:srgbClr val="567F8D"/>
                </a:solidFill>
                <a:latin typeface="Roboto"/>
              </a:rPr>
              <a:t>New in 7.8</a:t>
            </a:r>
          </a:p>
        </p:txBody>
      </p:sp>
      <p:cxnSp>
        <p:nvCxnSpPr>
          <p:cNvPr id="19" name="mbl:hrule:4" descr="{&quot;mbl&quot;: 1, &quot;c&quot;: &quot;hrule&quot;, &quot;i&quot;: 4}"/>
          <p:cNvCxnSpPr/>
          <p:nvPr/>
        </p:nvCxnSpPr>
        <p:spPr>
          <a:xfrm>
            <a:off x="365760" y="4378147"/>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0" name="mbl:txt:13" descr="{&quot;mbl&quot;: 1, &quot;c&quot;: &quot;txt&quot;, &quot;i&quot;: 13}"/>
          <p:cNvSpPr txBox="1"/>
          <p:nvPr/>
        </p:nvSpPr>
        <p:spPr>
          <a:xfrm>
            <a:off x="365760" y="4378147"/>
            <a:ext cx="3108960" cy="874166"/>
          </a:xfrm>
          <a:prstGeom prst="rect">
            <a:avLst/>
          </a:prstGeom>
          <a:noFill/>
        </p:spPr>
        <p:txBody>
          <a:bodyPr wrap="square" anchor="ctr" lIns="0" rIns="0" tIns="0" bIns="0">
            <a:noAutofit/>
          </a:bodyPr>
          <a:lstStyle/>
          <a:p>
            <a:pPr algn="l">
              <a:lnSpc>
                <a:spcPct val="100000"/>
              </a:lnSpc>
            </a:pPr>
            <a:r>
              <a:rPr sz="1700" b="1" i="0">
                <a:solidFill>
                  <a:srgbClr val="28495A"/>
                </a:solidFill>
                <a:latin typeface="Roboto Condensed"/>
              </a:rPr>
              <a:t>Assistants held to one role</a:t>
            </a:r>
          </a:p>
        </p:txBody>
      </p:sp>
      <p:sp>
        <p:nvSpPr>
          <p:cNvPr id="21" name="mbl:txt:14" descr="{&quot;mbl&quot;: 1, &quot;c&quot;: &quot;txt&quot;, &quot;i&quot;: 14}"/>
          <p:cNvSpPr txBox="1"/>
          <p:nvPr/>
        </p:nvSpPr>
        <p:spPr>
          <a:xfrm>
            <a:off x="3657600" y="4378147"/>
            <a:ext cx="5760720" cy="874166"/>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Every tool an assistant calls runs under one database role, and each allow or deny decision is recorded.</a:t>
            </a:r>
          </a:p>
        </p:txBody>
      </p:sp>
      <p:sp>
        <p:nvSpPr>
          <p:cNvPr id="22" name="mbl:txt:15" descr="{&quot;mbl&quot;: 1, &quot;c&quot;: &quot;txt&quot;, &quot;i&quot;: 15}"/>
          <p:cNvSpPr txBox="1"/>
          <p:nvPr/>
        </p:nvSpPr>
        <p:spPr>
          <a:xfrm>
            <a:off x="9601200" y="4378147"/>
            <a:ext cx="2313432" cy="874166"/>
          </a:xfrm>
          <a:prstGeom prst="rect">
            <a:avLst/>
          </a:prstGeom>
          <a:noFill/>
        </p:spPr>
        <p:txBody>
          <a:bodyPr wrap="square" anchor="ctr" lIns="0" rIns="0" tIns="0" bIns="0">
            <a:noAutofit/>
          </a:bodyPr>
          <a:lstStyle/>
          <a:p>
            <a:pPr algn="l">
              <a:lnSpc>
                <a:spcPct val="100000"/>
              </a:lnSpc>
            </a:pPr>
            <a:r>
              <a:rPr sz="1400" b="0" i="0">
                <a:solidFill>
                  <a:srgbClr val="567F8D"/>
                </a:solidFill>
                <a:latin typeface="Roboto"/>
              </a:rPr>
              <a:t>Governance</a:t>
            </a:r>
          </a:p>
        </p:txBody>
      </p:sp>
      <p:cxnSp>
        <p:nvCxnSpPr>
          <p:cNvPr id="23" name="mbl:hrule:5" descr="{&quot;mbl&quot;: 1, &quot;c&quot;: &quot;hrule&quot;, &quot;i&quot;: 5}"/>
          <p:cNvCxnSpPr/>
          <p:nvPr/>
        </p:nvCxnSpPr>
        <p:spPr>
          <a:xfrm>
            <a:off x="365760" y="5252313"/>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4" name="mbl:txt:16" descr="{&quot;mbl&quot;: 1, &quot;c&quot;: &quot;txt&quot;, &quot;i&quot;: 16}"/>
          <p:cNvSpPr txBox="1"/>
          <p:nvPr/>
        </p:nvSpPr>
        <p:spPr>
          <a:xfrm>
            <a:off x="365760" y="5252313"/>
            <a:ext cx="3108960" cy="874166"/>
          </a:xfrm>
          <a:prstGeom prst="rect">
            <a:avLst/>
          </a:prstGeom>
          <a:noFill/>
        </p:spPr>
        <p:txBody>
          <a:bodyPr wrap="square" anchor="ctr" lIns="0" rIns="0" tIns="0" bIns="0">
            <a:noAutofit/>
          </a:bodyPr>
          <a:lstStyle/>
          <a:p>
            <a:pPr algn="l">
              <a:lnSpc>
                <a:spcPct val="100000"/>
              </a:lnSpc>
            </a:pPr>
            <a:r>
              <a:rPr sz="1700" b="1" i="0">
                <a:solidFill>
                  <a:srgbClr val="28495A"/>
                </a:solidFill>
                <a:latin typeface="Roboto Condensed"/>
              </a:rPr>
              <a:t>Safer outbound calls</a:t>
            </a:r>
          </a:p>
        </p:txBody>
      </p:sp>
      <p:sp>
        <p:nvSpPr>
          <p:cNvPr id="25" name="mbl:txt:17" descr="{&quot;mbl&quot;: 1, &quot;c&quot;: &quot;txt&quot;, &quot;i&quot;: 17}"/>
          <p:cNvSpPr txBox="1"/>
          <p:nvPr/>
        </p:nvSpPr>
        <p:spPr>
          <a:xfrm>
            <a:off x="3657600" y="5252313"/>
            <a:ext cx="5760720" cy="874166"/>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Redirects stay on the same site, and a credential that holds a key cannot skip certificate checks.</a:t>
            </a:r>
          </a:p>
        </p:txBody>
      </p:sp>
      <p:sp>
        <p:nvSpPr>
          <p:cNvPr id="26" name="mbl:txt:18" descr="{&quot;mbl&quot;: 1, &quot;c&quot;: &quot;txt&quot;, &quot;i&quot;: 18}"/>
          <p:cNvSpPr txBox="1"/>
          <p:nvPr/>
        </p:nvSpPr>
        <p:spPr>
          <a:xfrm>
            <a:off x="9601200" y="5252313"/>
            <a:ext cx="2313432" cy="874166"/>
          </a:xfrm>
          <a:prstGeom prst="rect">
            <a:avLst/>
          </a:prstGeom>
          <a:noFill/>
        </p:spPr>
        <p:txBody>
          <a:bodyPr wrap="square" anchor="ctr" lIns="0" rIns="0" tIns="0" bIns="0">
            <a:noAutofit/>
          </a:bodyPr>
          <a:lstStyle/>
          <a:p>
            <a:pPr algn="l">
              <a:lnSpc>
                <a:spcPct val="100000"/>
              </a:lnSpc>
            </a:pPr>
            <a:r>
              <a:rPr sz="1400" b="0" i="0">
                <a:solidFill>
                  <a:srgbClr val="567F8D"/>
                </a:solidFill>
                <a:latin typeface="Roboto"/>
              </a:rPr>
              <a:t>New in 7.8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bl:gbar:1" descr="{&quot;mbl&quot;: 1, &quot;c&quot;: &quot;gbar&quot;, &quot;i&quot;: 1}"/>
          <p:cNvSpPr/>
          <p:nvPr/>
        </p:nvSpPr>
        <p:spPr>
          <a:xfrm>
            <a:off x="219456" y="420623"/>
            <a:ext cx="82296" cy="420624"/>
          </a:xfrm>
          <a:prstGeom prst="rect">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a:noAutofit/>
          </a:bodyPr>
          <a:lstStyle/>
          <a:p>
            <a:pPr algn="ctr"/>
          </a:p>
        </p:txBody>
      </p:sp>
      <p:sp>
        <p:nvSpPr>
          <p:cNvPr id="3" name="mbl:title:1" descr="{&quot;mbl&quot;: 1, &quot;c&quot;: &quot;title&quot;, &quot;i&quot;: 1}"/>
          <p:cNvSpPr txBox="1"/>
          <p:nvPr/>
        </p:nvSpPr>
        <p:spPr>
          <a:xfrm>
            <a:off x="365760" y="420623"/>
            <a:ext cx="11277295" cy="420624"/>
          </a:xfrm>
          <a:prstGeom prst="rect">
            <a:avLst/>
          </a:prstGeom>
          <a:noFill/>
        </p:spPr>
        <p:txBody>
          <a:bodyPr wrap="square" anchor="ctr" lIns="0" rIns="0" tIns="0" bIns="0">
            <a:noAutofit/>
          </a:bodyPr>
          <a:lstStyle/>
          <a:p>
            <a:pPr algn="l">
              <a:lnSpc>
                <a:spcPct val="100000"/>
              </a:lnSpc>
            </a:pPr>
            <a:r>
              <a:rPr sz="2600" b="1" i="0">
                <a:solidFill>
                  <a:srgbClr val="28495A"/>
                </a:solidFill>
                <a:latin typeface="Roboto Condensed"/>
              </a:rPr>
              <a:t>THE LIVE DEMO SHOWS EACH USE CASE ON YOUR SERVER</a:t>
            </a:r>
          </a:p>
        </p:txBody>
      </p:sp>
      <p:sp>
        <p:nvSpPr>
          <p:cNvPr id="4" name="mbl:txt:1" descr="{&quot;mbl&quot;: 1, &quot;c&quot;: &quot;txt&quot;, &quot;i&quot;: 1}"/>
          <p:cNvSpPr txBox="1"/>
          <p:nvPr/>
        </p:nvSpPr>
        <p:spPr>
          <a:xfrm>
            <a:off x="365760" y="1371600"/>
            <a:ext cx="3108960" cy="237744"/>
          </a:xfrm>
          <a:prstGeom prst="rect">
            <a:avLst/>
          </a:prstGeom>
          <a:noFill/>
        </p:spPr>
        <p:txBody>
          <a:bodyPr wrap="square" anchor="t" lIns="0" rIns="0" tIns="0" bIns="0">
            <a:noAutofit/>
          </a:bodyPr>
          <a:lstStyle/>
          <a:p>
            <a:pPr algn="l">
              <a:lnSpc>
                <a:spcPct val="100000"/>
              </a:lnSpc>
            </a:pPr>
            <a:r>
              <a:rPr sz="1100" b="1" i="0">
                <a:solidFill>
                  <a:srgbClr val="567F8D"/>
                </a:solidFill>
                <a:latin typeface="Roboto Condensed"/>
              </a:rPr>
              <a:t>USE CASE</a:t>
            </a:r>
          </a:p>
        </p:txBody>
      </p:sp>
      <p:sp>
        <p:nvSpPr>
          <p:cNvPr id="5" name="mbl:txt:2" descr="{&quot;mbl&quot;: 1, &quot;c&quot;: &quot;txt&quot;, &quot;i&quot;: 2}"/>
          <p:cNvSpPr txBox="1"/>
          <p:nvPr/>
        </p:nvSpPr>
        <p:spPr>
          <a:xfrm>
            <a:off x="3657600" y="1371600"/>
            <a:ext cx="5394960" cy="237744"/>
          </a:xfrm>
          <a:prstGeom prst="rect">
            <a:avLst/>
          </a:prstGeom>
          <a:noFill/>
        </p:spPr>
        <p:txBody>
          <a:bodyPr wrap="square" anchor="t" lIns="0" rIns="0" tIns="0" bIns="0">
            <a:noAutofit/>
          </a:bodyPr>
          <a:lstStyle/>
          <a:p>
            <a:pPr algn="l">
              <a:lnSpc>
                <a:spcPct val="100000"/>
              </a:lnSpc>
            </a:pPr>
            <a:r>
              <a:rPr sz="1100" b="1" i="0">
                <a:solidFill>
                  <a:srgbClr val="567F8D"/>
                </a:solidFill>
                <a:latin typeface="Roboto Condensed"/>
              </a:rPr>
              <a:t>WHAT YOU SEE IN THE DEMO</a:t>
            </a:r>
          </a:p>
        </p:txBody>
      </p:sp>
      <p:sp>
        <p:nvSpPr>
          <p:cNvPr id="6" name="mbl:txt:3" descr="{&quot;mbl&quot;: 1, &quot;c&quot;: &quot;txt&quot;, &quot;i&quot;: 3}"/>
          <p:cNvSpPr txBox="1"/>
          <p:nvPr/>
        </p:nvSpPr>
        <p:spPr>
          <a:xfrm>
            <a:off x="9235440" y="1371600"/>
            <a:ext cx="2679192" cy="237744"/>
          </a:xfrm>
          <a:prstGeom prst="rect">
            <a:avLst/>
          </a:prstGeom>
          <a:noFill/>
        </p:spPr>
        <p:txBody>
          <a:bodyPr wrap="square" anchor="t" lIns="0" rIns="0" tIns="0" bIns="0">
            <a:noAutofit/>
          </a:bodyPr>
          <a:lstStyle/>
          <a:p>
            <a:pPr algn="l">
              <a:lnSpc>
                <a:spcPct val="100000"/>
              </a:lnSpc>
            </a:pPr>
            <a:r>
              <a:rPr sz="1100" b="1" i="0">
                <a:solidFill>
                  <a:srgbClr val="567F8D"/>
                </a:solidFill>
                <a:latin typeface="Roboto Condensed"/>
              </a:rPr>
              <a:t>WHO BENEFITS</a:t>
            </a:r>
          </a:p>
        </p:txBody>
      </p:sp>
      <p:cxnSp>
        <p:nvCxnSpPr>
          <p:cNvPr id="7" name="mbl:hrule:1" descr="{&quot;mbl&quot;: 1, &quot;c&quot;: &quot;hrule&quot;, &quot;i&quot;: 1}"/>
          <p:cNvCxnSpPr/>
          <p:nvPr/>
        </p:nvCxnSpPr>
        <p:spPr>
          <a:xfrm>
            <a:off x="365760" y="1664208"/>
            <a:ext cx="11460175" cy="0"/>
          </a:xfrm>
          <a:prstGeom prst="line">
            <a:avLst/>
          </a:prstGeom>
          <a:ln w="25400">
            <a:solidFill>
              <a:srgbClr val="28495A"/>
            </a:solidFill>
          </a:ln>
          <a:effectLst/>
        </p:spPr>
        <p:style>
          <a:lnRef idx="2">
            <a:schemeClr val="accent1"/>
          </a:lnRef>
          <a:fillRef idx="0">
            <a:schemeClr val="accent1"/>
          </a:fillRef>
          <a:effectRef idx="0">
            <a:schemeClr val="accent1"/>
          </a:effectRef>
          <a:fontRef idx="minor">
            <a:schemeClr val="tx1"/>
          </a:fontRef>
        </p:style>
      </p:cxnSp>
      <p:sp>
        <p:nvSpPr>
          <p:cNvPr id="8" name="mbl:txt:4" descr="{&quot;mbl&quot;: 1, &quot;c&quot;: &quot;txt&quot;, &quot;i&quot;: 4}"/>
          <p:cNvSpPr txBox="1"/>
          <p:nvPr/>
        </p:nvSpPr>
        <p:spPr>
          <a:xfrm>
            <a:off x="365760" y="1755648"/>
            <a:ext cx="3108960" cy="718718"/>
          </a:xfrm>
          <a:prstGeom prst="rect">
            <a:avLst/>
          </a:prstGeom>
          <a:noFill/>
        </p:spPr>
        <p:txBody>
          <a:bodyPr wrap="square" anchor="ctr" lIns="0" rIns="0" tIns="0" bIns="0">
            <a:noAutofit/>
          </a:bodyPr>
          <a:lstStyle/>
          <a:p>
            <a:pPr algn="l">
              <a:lnSpc>
                <a:spcPct val="100000"/>
              </a:lnSpc>
            </a:pPr>
            <a:r>
              <a:rPr sz="1700" b="1" i="0">
                <a:solidFill>
                  <a:srgbClr val="28495A"/>
                </a:solidFill>
                <a:latin typeface="Roboto Condensed"/>
              </a:rPr>
              <a:t>Find answers in documents</a:t>
            </a:r>
          </a:p>
        </p:txBody>
      </p:sp>
      <p:sp>
        <p:nvSpPr>
          <p:cNvPr id="9" name="mbl:txt:5" descr="{&quot;mbl&quot;: 1, &quot;c&quot;: &quot;txt&quot;, &quot;i&quot;: 5}"/>
          <p:cNvSpPr txBox="1"/>
          <p:nvPr/>
        </p:nvSpPr>
        <p:spPr>
          <a:xfrm>
            <a:off x="3657600" y="1755648"/>
            <a:ext cx="5394960" cy="718718"/>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Step 5: ask a question and get the closest passages.</a:t>
            </a:r>
          </a:p>
        </p:txBody>
      </p:sp>
      <p:sp>
        <p:nvSpPr>
          <p:cNvPr id="10" name="mbl:txt:6" descr="{&quot;mbl&quot;: 1, &quot;c&quot;: &quot;txt&quot;, &quot;i&quot;: 6}"/>
          <p:cNvSpPr txBox="1"/>
          <p:nvPr/>
        </p:nvSpPr>
        <p:spPr>
          <a:xfrm>
            <a:off x="9235440" y="1755648"/>
            <a:ext cx="2679192" cy="718718"/>
          </a:xfrm>
          <a:prstGeom prst="rect">
            <a:avLst/>
          </a:prstGeom>
          <a:noFill/>
        </p:spPr>
        <p:txBody>
          <a:bodyPr wrap="square" anchor="ctr" lIns="0" rIns="0" tIns="0" bIns="0">
            <a:noAutofit/>
          </a:bodyPr>
          <a:lstStyle/>
          <a:p>
            <a:pPr algn="l">
              <a:lnSpc>
                <a:spcPct val="100000"/>
              </a:lnSpc>
            </a:pPr>
            <a:r>
              <a:rPr sz="1400" b="0" i="0">
                <a:solidFill>
                  <a:srgbClr val="567F8D"/>
                </a:solidFill>
                <a:latin typeface="Roboto"/>
              </a:rPr>
              <a:t>Support, HR and legal</a:t>
            </a:r>
          </a:p>
        </p:txBody>
      </p:sp>
      <p:cxnSp>
        <p:nvCxnSpPr>
          <p:cNvPr id="11" name="mbl:hrule:2" descr="{&quot;mbl&quot;: 1, &quot;c&quot;: &quot;hrule&quot;, &quot;i&quot;: 2}"/>
          <p:cNvCxnSpPr/>
          <p:nvPr/>
        </p:nvCxnSpPr>
        <p:spPr>
          <a:xfrm>
            <a:off x="365760" y="2474366"/>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2" name="mbl:txt:7" descr="{&quot;mbl&quot;: 1, &quot;c&quot;: &quot;txt&quot;, &quot;i&quot;: 7}"/>
          <p:cNvSpPr txBox="1"/>
          <p:nvPr/>
        </p:nvSpPr>
        <p:spPr>
          <a:xfrm>
            <a:off x="365760" y="2474366"/>
            <a:ext cx="3108960" cy="718718"/>
          </a:xfrm>
          <a:prstGeom prst="rect">
            <a:avLst/>
          </a:prstGeom>
          <a:noFill/>
        </p:spPr>
        <p:txBody>
          <a:bodyPr wrap="square" anchor="ctr" lIns="0" rIns="0" tIns="0" bIns="0">
            <a:noAutofit/>
          </a:bodyPr>
          <a:lstStyle/>
          <a:p>
            <a:pPr algn="l">
              <a:lnSpc>
                <a:spcPct val="100000"/>
              </a:lnSpc>
            </a:pPr>
            <a:r>
              <a:rPr sz="1700" b="1" i="0">
                <a:solidFill>
                  <a:srgbClr val="28495A"/>
                </a:solidFill>
                <a:latin typeface="Roboto Condensed"/>
              </a:rPr>
              <a:t>Question the database</a:t>
            </a:r>
          </a:p>
        </p:txBody>
      </p:sp>
      <p:sp>
        <p:nvSpPr>
          <p:cNvPr id="13" name="mbl:txt:8" descr="{&quot;mbl&quot;: 1, &quot;c&quot;: &quot;txt&quot;, &quot;i&quot;: 8}"/>
          <p:cNvSpPr txBox="1"/>
          <p:nvPr/>
        </p:nvSpPr>
        <p:spPr>
          <a:xfrm>
            <a:off x="3657600" y="2474366"/>
            <a:ext cx="5394960" cy="718718"/>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Steps 4 and 5: how tables join, then a question answered.</a:t>
            </a:r>
          </a:p>
        </p:txBody>
      </p:sp>
      <p:sp>
        <p:nvSpPr>
          <p:cNvPr id="14" name="mbl:txt:9" descr="{&quot;mbl&quot;: 1, &quot;c&quot;: &quot;txt&quot;, &quot;i&quot;: 9}"/>
          <p:cNvSpPr txBox="1"/>
          <p:nvPr/>
        </p:nvSpPr>
        <p:spPr>
          <a:xfrm>
            <a:off x="9235440" y="2474366"/>
            <a:ext cx="2679192" cy="718718"/>
          </a:xfrm>
          <a:prstGeom prst="rect">
            <a:avLst/>
          </a:prstGeom>
          <a:noFill/>
        </p:spPr>
        <p:txBody>
          <a:bodyPr wrap="square" anchor="ctr" lIns="0" rIns="0" tIns="0" bIns="0">
            <a:noAutofit/>
          </a:bodyPr>
          <a:lstStyle/>
          <a:p>
            <a:pPr algn="l">
              <a:lnSpc>
                <a:spcPct val="100000"/>
              </a:lnSpc>
            </a:pPr>
            <a:r>
              <a:rPr sz="1400" b="0" i="0">
                <a:solidFill>
                  <a:srgbClr val="567F8D"/>
                </a:solidFill>
                <a:latin typeface="Roboto"/>
              </a:rPr>
              <a:t>Analysts and managers</a:t>
            </a:r>
          </a:p>
        </p:txBody>
      </p:sp>
      <p:cxnSp>
        <p:nvCxnSpPr>
          <p:cNvPr id="15" name="mbl:hrule:3" descr="{&quot;mbl&quot;: 1, &quot;c&quot;: &quot;hrule&quot;, &quot;i&quot;: 3}"/>
          <p:cNvCxnSpPr/>
          <p:nvPr/>
        </p:nvCxnSpPr>
        <p:spPr>
          <a:xfrm>
            <a:off x="365760" y="3193084"/>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16" name="mbl:txt:10" descr="{&quot;mbl&quot;: 1, &quot;c&quot;: &quot;txt&quot;, &quot;i&quot;: 10}"/>
          <p:cNvSpPr txBox="1"/>
          <p:nvPr/>
        </p:nvSpPr>
        <p:spPr>
          <a:xfrm>
            <a:off x="365760" y="3193084"/>
            <a:ext cx="3108960" cy="718718"/>
          </a:xfrm>
          <a:prstGeom prst="rect">
            <a:avLst/>
          </a:prstGeom>
          <a:noFill/>
        </p:spPr>
        <p:txBody>
          <a:bodyPr wrap="square" anchor="ctr" lIns="0" rIns="0" tIns="0" bIns="0">
            <a:noAutofit/>
          </a:bodyPr>
          <a:lstStyle/>
          <a:p>
            <a:pPr algn="l">
              <a:lnSpc>
                <a:spcPct val="100000"/>
              </a:lnSpc>
            </a:pPr>
            <a:r>
              <a:rPr sz="1700" b="1" i="0">
                <a:solidFill>
                  <a:srgbClr val="28495A"/>
                </a:solidFill>
                <a:latin typeface="Roboto Condensed"/>
              </a:rPr>
              <a:t>Assistants that do the work</a:t>
            </a:r>
          </a:p>
        </p:txBody>
      </p:sp>
      <p:sp>
        <p:nvSpPr>
          <p:cNvPr id="17" name="mbl:txt:11" descr="{&quot;mbl&quot;: 1, &quot;c&quot;: &quot;txt&quot;, &quot;i&quot;: 11}"/>
          <p:cNvSpPr txBox="1"/>
          <p:nvPr/>
        </p:nvSpPr>
        <p:spPr>
          <a:xfrm>
            <a:off x="3657600" y="3193084"/>
            <a:ext cx="5394960" cy="718718"/>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Step 6: the tools an assistant may use, and one answering.</a:t>
            </a:r>
          </a:p>
        </p:txBody>
      </p:sp>
      <p:sp>
        <p:nvSpPr>
          <p:cNvPr id="18" name="mbl:txt:12" descr="{&quot;mbl&quot;: 1, &quot;c&quot;: &quot;txt&quot;, &quot;i&quot;: 12}"/>
          <p:cNvSpPr txBox="1"/>
          <p:nvPr/>
        </p:nvSpPr>
        <p:spPr>
          <a:xfrm>
            <a:off x="9235440" y="3193084"/>
            <a:ext cx="2679192" cy="718718"/>
          </a:xfrm>
          <a:prstGeom prst="rect">
            <a:avLst/>
          </a:prstGeom>
          <a:noFill/>
        </p:spPr>
        <p:txBody>
          <a:bodyPr wrap="square" anchor="ctr" lIns="0" rIns="0" tIns="0" bIns="0">
            <a:noAutofit/>
          </a:bodyPr>
          <a:lstStyle/>
          <a:p>
            <a:pPr algn="l">
              <a:lnSpc>
                <a:spcPct val="100000"/>
              </a:lnSpc>
            </a:pPr>
            <a:r>
              <a:rPr sz="1400" b="0" i="0">
                <a:solidFill>
                  <a:srgbClr val="567F8D"/>
                </a:solidFill>
                <a:latin typeface="Roboto"/>
              </a:rPr>
              <a:t>Operations and sales</a:t>
            </a:r>
          </a:p>
        </p:txBody>
      </p:sp>
      <p:cxnSp>
        <p:nvCxnSpPr>
          <p:cNvPr id="19" name="mbl:hrule:4" descr="{&quot;mbl&quot;: 1, &quot;c&quot;: &quot;hrule&quot;, &quot;i&quot;: 4}"/>
          <p:cNvCxnSpPr/>
          <p:nvPr/>
        </p:nvCxnSpPr>
        <p:spPr>
          <a:xfrm>
            <a:off x="365760" y="3911803"/>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0" name="mbl:txt:13" descr="{&quot;mbl&quot;: 1, &quot;c&quot;: &quot;txt&quot;, &quot;i&quot;: 13}"/>
          <p:cNvSpPr txBox="1"/>
          <p:nvPr/>
        </p:nvSpPr>
        <p:spPr>
          <a:xfrm>
            <a:off x="365760" y="3911803"/>
            <a:ext cx="3108960" cy="718718"/>
          </a:xfrm>
          <a:prstGeom prst="rect">
            <a:avLst/>
          </a:prstGeom>
          <a:noFill/>
        </p:spPr>
        <p:txBody>
          <a:bodyPr wrap="square" anchor="ctr" lIns="0" rIns="0" tIns="0" bIns="0">
            <a:noAutofit/>
          </a:bodyPr>
          <a:lstStyle/>
          <a:p>
            <a:pPr algn="l">
              <a:lnSpc>
                <a:spcPct val="100000"/>
              </a:lnSpc>
            </a:pPr>
            <a:r>
              <a:rPr sz="1700" b="1" i="0">
                <a:solidFill>
                  <a:srgbClr val="28495A"/>
                </a:solidFill>
                <a:latin typeface="Roboto Condensed"/>
              </a:rPr>
              <a:t>Choose your AI</a:t>
            </a:r>
          </a:p>
        </p:txBody>
      </p:sp>
      <p:sp>
        <p:nvSpPr>
          <p:cNvPr id="21" name="mbl:txt:14" descr="{&quot;mbl&quot;: 1, &quot;c&quot;: &quot;txt&quot;, &quot;i&quot;: 14}"/>
          <p:cNvSpPr txBox="1"/>
          <p:nvPr/>
        </p:nvSpPr>
        <p:spPr>
          <a:xfrm>
            <a:off x="3657600" y="3911803"/>
            <a:ext cx="5394960" cy="718718"/>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Step 2: the models on this server, inside or outside Postgres.</a:t>
            </a:r>
          </a:p>
        </p:txBody>
      </p:sp>
      <p:sp>
        <p:nvSpPr>
          <p:cNvPr id="22" name="mbl:txt:15" descr="{&quot;mbl&quot;: 1, &quot;c&quot;: &quot;txt&quot;, &quot;i&quot;: 15}"/>
          <p:cNvSpPr txBox="1"/>
          <p:nvPr/>
        </p:nvSpPr>
        <p:spPr>
          <a:xfrm>
            <a:off x="9235440" y="3911803"/>
            <a:ext cx="2679192" cy="718718"/>
          </a:xfrm>
          <a:prstGeom prst="rect">
            <a:avLst/>
          </a:prstGeom>
          <a:noFill/>
        </p:spPr>
        <p:txBody>
          <a:bodyPr wrap="square" anchor="ctr" lIns="0" rIns="0" tIns="0" bIns="0">
            <a:noAutofit/>
          </a:bodyPr>
          <a:lstStyle/>
          <a:p>
            <a:pPr algn="l">
              <a:lnSpc>
                <a:spcPct val="100000"/>
              </a:lnSpc>
            </a:pPr>
            <a:r>
              <a:rPr sz="1400" b="0" i="0">
                <a:solidFill>
                  <a:srgbClr val="567F8D"/>
                </a:solidFill>
                <a:latin typeface="Roboto"/>
              </a:rPr>
              <a:t>IT and data teams</a:t>
            </a:r>
          </a:p>
        </p:txBody>
      </p:sp>
      <p:cxnSp>
        <p:nvCxnSpPr>
          <p:cNvPr id="23" name="mbl:hrule:5" descr="{&quot;mbl&quot;: 1, &quot;c&quot;: &quot;hrule&quot;, &quot;i&quot;: 5}"/>
          <p:cNvCxnSpPr/>
          <p:nvPr/>
        </p:nvCxnSpPr>
        <p:spPr>
          <a:xfrm>
            <a:off x="365760" y="4630521"/>
            <a:ext cx="11460175" cy="0"/>
          </a:xfrm>
          <a:prstGeom prst="line">
            <a:avLst/>
          </a:prstGeom>
          <a:ln w="9525">
            <a:solidFill>
              <a:srgbClr val="A8C2CA"/>
            </a:solidFill>
          </a:ln>
          <a:effectLst/>
        </p:spPr>
        <p:style>
          <a:lnRef idx="2">
            <a:schemeClr val="accent1"/>
          </a:lnRef>
          <a:fillRef idx="0">
            <a:schemeClr val="accent1"/>
          </a:fillRef>
          <a:effectRef idx="0">
            <a:schemeClr val="accent1"/>
          </a:effectRef>
          <a:fontRef idx="minor">
            <a:schemeClr val="tx1"/>
          </a:fontRef>
        </p:style>
      </p:cxnSp>
      <p:sp>
        <p:nvSpPr>
          <p:cNvPr id="24" name="mbl:txt:16" descr="{&quot;mbl&quot;: 1, &quot;c&quot;: &quot;txt&quot;, &quot;i&quot;: 16}"/>
          <p:cNvSpPr txBox="1"/>
          <p:nvPr/>
        </p:nvSpPr>
        <p:spPr>
          <a:xfrm>
            <a:off x="365760" y="4630521"/>
            <a:ext cx="3108960" cy="718718"/>
          </a:xfrm>
          <a:prstGeom prst="rect">
            <a:avLst/>
          </a:prstGeom>
          <a:noFill/>
        </p:spPr>
        <p:txBody>
          <a:bodyPr wrap="square" anchor="ctr" lIns="0" rIns="0" tIns="0" bIns="0">
            <a:noAutofit/>
          </a:bodyPr>
          <a:lstStyle/>
          <a:p>
            <a:pPr algn="l">
              <a:lnSpc>
                <a:spcPct val="100000"/>
              </a:lnSpc>
            </a:pPr>
            <a:r>
              <a:rPr sz="1700" b="1" i="0">
                <a:solidFill>
                  <a:srgbClr val="28495A"/>
                </a:solidFill>
                <a:latin typeface="Roboto Condensed"/>
              </a:rPr>
              <a:t>Control and trust</a:t>
            </a:r>
          </a:p>
        </p:txBody>
      </p:sp>
      <p:sp>
        <p:nvSpPr>
          <p:cNvPr id="25" name="mbl:txt:17" descr="{&quot;mbl&quot;: 1, &quot;c&quot;: &quot;txt&quot;, &quot;i&quot;: 17}"/>
          <p:cNvSpPr txBox="1"/>
          <p:nvPr/>
        </p:nvSpPr>
        <p:spPr>
          <a:xfrm>
            <a:off x="3657600" y="4630521"/>
            <a:ext cx="5394960" cy="718718"/>
          </a:xfrm>
          <a:prstGeom prst="rect">
            <a:avLst/>
          </a:prstGeom>
          <a:noFill/>
        </p:spPr>
        <p:txBody>
          <a:bodyPr wrap="square" anchor="ctr" lIns="0" rIns="0" tIns="0" bIns="0">
            <a:noAutofit/>
          </a:bodyPr>
          <a:lstStyle/>
          <a:p>
            <a:pPr algn="l">
              <a:lnSpc>
                <a:spcPct val="100000"/>
              </a:lnSpc>
            </a:pPr>
            <a:r>
              <a:rPr sz="1400" b="0" i="0">
                <a:solidFill>
                  <a:srgbClr val="28495A"/>
                </a:solidFill>
                <a:latin typeface="Roboto"/>
              </a:rPr>
              <a:t>Steps 3 and 7: locked keys, failed jobs and a health check.</a:t>
            </a:r>
          </a:p>
        </p:txBody>
      </p:sp>
      <p:sp>
        <p:nvSpPr>
          <p:cNvPr id="26" name="mbl:txt:18" descr="{&quot;mbl&quot;: 1, &quot;c&quot;: &quot;txt&quot;, &quot;i&quot;: 18}"/>
          <p:cNvSpPr txBox="1"/>
          <p:nvPr/>
        </p:nvSpPr>
        <p:spPr>
          <a:xfrm>
            <a:off x="9235440" y="4630521"/>
            <a:ext cx="2679192" cy="718718"/>
          </a:xfrm>
          <a:prstGeom prst="rect">
            <a:avLst/>
          </a:prstGeom>
          <a:noFill/>
        </p:spPr>
        <p:txBody>
          <a:bodyPr wrap="square" anchor="ctr" lIns="0" rIns="0" tIns="0" bIns="0">
            <a:noAutofit/>
          </a:bodyPr>
          <a:lstStyle/>
          <a:p>
            <a:pPr algn="l">
              <a:lnSpc>
                <a:spcPct val="100000"/>
              </a:lnSpc>
            </a:pPr>
            <a:r>
              <a:rPr sz="1400" b="0" i="0">
                <a:solidFill>
                  <a:srgbClr val="567F8D"/>
                </a:solidFill>
                <a:latin typeface="Roboto"/>
              </a:rPr>
              <a:t>Security and operations</a:t>
            </a:r>
          </a:p>
        </p:txBody>
      </p:sp>
      <p:sp>
        <p:nvSpPr>
          <p:cNvPr id="27" name="mbl:strip:1" descr="{&quot;mbl&quot;: 1, &quot;c&quot;: &quot;strip&quot;, &quot;i&quot;: 1}"/>
          <p:cNvSpPr/>
          <p:nvPr/>
        </p:nvSpPr>
        <p:spPr>
          <a:xfrm>
            <a:off x="365760" y="5532120"/>
            <a:ext cx="11460175" cy="502920"/>
          </a:xfrm>
          <a:prstGeom prst="roundRect">
            <a:avLst>
              <a:gd name="adj" fmla="val 5424"/>
            </a:avLst>
          </a:prstGeom>
          <a:solidFill>
            <a:srgbClr val="E7C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46304" rIns="146304" tIns="0" bIns="0">
            <a:noAutofit/>
          </a:bodyPr>
          <a:lstStyle/>
          <a:p>
            <a:pPr algn="l"/>
            <a:r>
              <a:rPr sz="1400" b="1">
                <a:solidFill>
                  <a:srgbClr val="28495A"/>
                </a:solidFill>
                <a:latin typeface="Roboto Condensed"/>
              </a:rPr>
              <a:t>START   </a:t>
            </a:r>
            <a:r>
              <a:rPr sz="1400">
                <a:solidFill>
                  <a:srgbClr val="28495A"/>
                </a:solidFill>
                <a:latin typeface="Roboto"/>
              </a:rPr>
              <a:t>Run demo-data/run_demo_setup.sh once for sample data, then ./start.sh and open the Showcase.</a:t>
            </a:r>
          </a:p>
        </p:txBody>
      </p:sp>
    </p:spTree>
  </p:cSld>
  <p:clrMapOvr>
    <a:masterClrMapping/>
  </p:clrMapOvr>
</p:sld>
</file>

<file path=ppt/theme/theme1.xml><?xml version="1.0" encoding="utf-8"?>
<a:theme xmlns:a="http://schemas.openxmlformats.org/drawingml/2006/main" name="Office Theme">
  <a:themeElements>
    <a:clrScheme name="Office">
      <a:dk1>
        <a:srgbClr val="28495A"/>
      </a:dk1>
      <a:lt1>
        <a:sysClr val="window" lastClr="FFFFFF"/>
      </a:lt1>
      <a:dk2>
        <a:srgbClr val="0D1E25"/>
      </a:dk2>
      <a:lt2>
        <a:srgbClr val="E8F2F5"/>
      </a:lt2>
      <a:accent1>
        <a:srgbClr val="28495A"/>
      </a:accent1>
      <a:accent2>
        <a:srgbClr val="E7C568"/>
      </a:accent2>
      <a:accent3>
        <a:srgbClr val="567F8D"/>
      </a:accent3>
      <a:accent4>
        <a:srgbClr val="1E3D4A"/>
      </a:accent4>
      <a:accent5>
        <a:srgbClr val="A8C2CA"/>
      </a:accent5>
      <a:accent6>
        <a:srgbClr val="E96F4C"/>
      </a:accent6>
      <a:hlink>
        <a:srgbClr val="567F8D"/>
      </a:hlink>
      <a:folHlink>
        <a:srgbClr val="567F8D"/>
      </a:folHlink>
    </a:clrScheme>
    <a:fontScheme name="Office">
      <a:majorFont>
        <a:latin typeface="Roboto Condense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{"living_deck": 1, "skill": "edb-bento-lite", "folder": "/mnt/user-data/outputs/2026-10-18 AIDB 7.8 Capabilities", "build": "build_aidb_deck.py", "protocol": "reconcile-before-rebuild"}</dc:description>
  <cp:lastModifiedBy>Steve Canny</cp:lastModifiedBy>
  <cp:revision>1</cp:revision>
  <dcterms:created xsi:type="dcterms:W3CDTF">2013-01-27T09:14:16Z</dcterms:created>
  <dcterms:modified xsi:type="dcterms:W3CDTF">2013-01-27T09:15:58Z</dcterms:modified>
  <cp:category/>
</cp:coreProperties>
</file>